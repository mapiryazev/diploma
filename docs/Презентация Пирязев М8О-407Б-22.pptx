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4630400" cy="8229600"/>
  <p:notesSz cx="8229600" cy="14630400"/>
  <p:embeddedFontLst>
    <p:embeddedFont>
      <p:font typeface="Cabin" panose="020B0604020202020204" charset="0"/>
      <p:regular r:id="rId12"/>
      <p:bold r:id="rId13"/>
      <p:italic r:id="rId14"/>
      <p:boldItalic r:id="rId15"/>
    </p:embeddedFont>
    <p:embeddedFont>
      <p:font typeface="Unbounded" panose="020B0604020202020204" charset="-52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96" y="5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e481139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ce481139a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ce481139a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837724" y="964049"/>
            <a:ext cx="129549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Unbounded"/>
              <a:buNone/>
            </a:pPr>
            <a:r>
              <a:rPr lang="en-US" sz="25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Московский авиационный институт (национальный исследовательский университет)</a:t>
            </a:r>
            <a:endParaRPr sz="2500" b="0" i="0" u="none" strike="noStrike" cap="none"/>
          </a:p>
        </p:txBody>
      </p:sp>
      <p:sp>
        <p:nvSpPr>
          <p:cNvPr id="53" name="Google Shape;53;p12"/>
          <p:cNvSpPr/>
          <p:nvPr/>
        </p:nvSpPr>
        <p:spPr>
          <a:xfrm>
            <a:off x="837725" y="1988184"/>
            <a:ext cx="129549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Unbounded"/>
              <a:buNone/>
            </a:pP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Институт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№ 8 «</a:t>
            </a: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Компьютерные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науки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и </a:t>
            </a: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прикладная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математика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»</a:t>
            </a:r>
            <a:endParaRPr sz="2500" b="0" i="0" u="none" strike="noStrike" cap="none" dirty="0"/>
          </a:p>
        </p:txBody>
      </p:sp>
      <p:sp>
        <p:nvSpPr>
          <p:cNvPr id="54" name="Google Shape;54;p12"/>
          <p:cNvSpPr/>
          <p:nvPr/>
        </p:nvSpPr>
        <p:spPr>
          <a:xfrm>
            <a:off x="837725" y="2554950"/>
            <a:ext cx="13488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Unbounded"/>
              <a:buNone/>
            </a:pP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Кафедра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№ 806 «</a:t>
            </a: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Вычислительная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математика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и </a:t>
            </a:r>
            <a:r>
              <a:rPr lang="en-US" sz="25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программирование</a:t>
            </a:r>
            <a:r>
              <a:rPr lang="en-US" sz="25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»</a:t>
            </a:r>
            <a:endParaRPr sz="2500" b="0" i="0" u="none" strike="noStrike" cap="none" dirty="0"/>
          </a:p>
        </p:txBody>
      </p:sp>
      <p:sp>
        <p:nvSpPr>
          <p:cNvPr id="55" name="Google Shape;55;p12"/>
          <p:cNvSpPr/>
          <p:nvPr/>
        </p:nvSpPr>
        <p:spPr>
          <a:xfrm>
            <a:off x="837724" y="3547344"/>
            <a:ext cx="129549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Unbounded"/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Выпускная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квалификационная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работа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бакалавра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на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тему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: «</a:t>
            </a:r>
            <a:r>
              <a:rPr lang="en-US" sz="2700" b="0" i="0" u="none" strike="noStrike" cap="none" dirty="0" err="1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Разработка</a:t>
            </a:r>
            <a:r>
              <a:rPr lang="en-US" sz="2700" b="0" i="0" u="none" strike="noStrike" cap="none" dirty="0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системы</a:t>
            </a:r>
            <a:r>
              <a:rPr lang="en-US" sz="2700" b="0" i="0" u="none" strike="noStrike" cap="none" dirty="0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потоковой</a:t>
            </a:r>
            <a:r>
              <a:rPr lang="en-US" sz="2700" b="0" i="0" u="none" strike="noStrike" cap="none" dirty="0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обработки</a:t>
            </a:r>
            <a:r>
              <a:rPr lang="en-US" sz="2700" b="0" i="0" u="none" strike="noStrike" cap="none" dirty="0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финансовых</a:t>
            </a:r>
            <a:r>
              <a:rPr lang="en-US" sz="2700" b="0" i="0" u="none" strike="noStrike" cap="none" dirty="0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2700" b="0" i="0" u="none" strike="noStrike" cap="none" dirty="0" err="1">
                <a:solidFill>
                  <a:srgbClr val="0A988B"/>
                </a:solidFill>
                <a:latin typeface="Unbounded"/>
                <a:ea typeface="Unbounded"/>
                <a:cs typeface="Unbounded"/>
                <a:sym typeface="Unbounded"/>
              </a:rPr>
              <a:t>транзакций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»</a:t>
            </a:r>
            <a:endParaRPr sz="2700" b="0" i="0" u="none" strike="noStrike" cap="none" dirty="0"/>
          </a:p>
        </p:txBody>
      </p:sp>
      <p:sp>
        <p:nvSpPr>
          <p:cNvPr id="56" name="Google Shape;56;p12"/>
          <p:cNvSpPr/>
          <p:nvPr/>
        </p:nvSpPr>
        <p:spPr>
          <a:xfrm>
            <a:off x="837724" y="5314117"/>
            <a:ext cx="4476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Unbounded"/>
              <a:buNone/>
            </a:pPr>
            <a:r>
              <a:rPr lang="en-US" sz="185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Студент:</a:t>
            </a:r>
            <a:endParaRPr sz="1850" b="0" i="0" u="none" strike="noStrike" cap="none"/>
          </a:p>
        </p:txBody>
      </p:sp>
      <p:sp>
        <p:nvSpPr>
          <p:cNvPr id="57" name="Google Shape;57;p12"/>
          <p:cNvSpPr/>
          <p:nvPr/>
        </p:nvSpPr>
        <p:spPr>
          <a:xfrm>
            <a:off x="837724" y="5786199"/>
            <a:ext cx="62295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5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00"/>
              <a:buFont typeface="Cabin"/>
              <a:buNone/>
            </a:pPr>
            <a:r>
              <a:rPr lang="en-US" sz="20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Пирязев Михаил Александрович,</a:t>
            </a:r>
            <a:endParaRPr sz="2000" b="0" i="0" u="none" strike="noStrike" cap="none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475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00"/>
              <a:buFont typeface="Cabin"/>
              <a:buNone/>
            </a:pPr>
            <a:r>
              <a:rPr lang="en-US" sz="20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Группа</a:t>
            </a:r>
            <a:r>
              <a:rPr lang="en-US" sz="20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М8О-407Б-22</a:t>
            </a:r>
            <a:endParaRPr sz="2000" b="0" i="0" u="none" strike="noStrike" cap="none"/>
          </a:p>
        </p:txBody>
      </p:sp>
      <p:sp>
        <p:nvSpPr>
          <p:cNvPr id="58" name="Google Shape;58;p12"/>
          <p:cNvSpPr/>
          <p:nvPr/>
        </p:nvSpPr>
        <p:spPr>
          <a:xfrm>
            <a:off x="7570946" y="5314117"/>
            <a:ext cx="3543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Unbounded"/>
              <a:buNone/>
            </a:pPr>
            <a:r>
              <a:rPr lang="en-US" sz="185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Научный руководитель:</a:t>
            </a:r>
            <a:endParaRPr sz="1850" b="0" i="0" u="none" strike="noStrike" cap="none"/>
          </a:p>
        </p:txBody>
      </p:sp>
      <p:sp>
        <p:nvSpPr>
          <p:cNvPr id="59" name="Google Shape;59;p12"/>
          <p:cNvSpPr/>
          <p:nvPr/>
        </p:nvSpPr>
        <p:spPr>
          <a:xfrm>
            <a:off x="7570946" y="5786199"/>
            <a:ext cx="62295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5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00"/>
              <a:buFont typeface="Cabin"/>
              <a:buNone/>
            </a:pPr>
            <a:r>
              <a:rPr lang="en-US" sz="20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Кандидат физико-математических наук, доцент, доцент 806 кафедры МАИ Кузнецова С.В.</a:t>
            </a:r>
            <a:endParaRPr sz="2000" b="0" i="0" u="none" strike="noStrike" cap="none"/>
          </a:p>
        </p:txBody>
      </p:sp>
      <p:sp>
        <p:nvSpPr>
          <p:cNvPr id="60" name="Google Shape;60;p12"/>
          <p:cNvSpPr/>
          <p:nvPr/>
        </p:nvSpPr>
        <p:spPr>
          <a:xfrm>
            <a:off x="837724" y="6889075"/>
            <a:ext cx="129549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5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00"/>
              <a:buFont typeface="Cabin"/>
              <a:buNone/>
            </a:pPr>
            <a:r>
              <a:rPr lang="en-US" sz="2000" b="1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Москва – 2026</a:t>
            </a:r>
            <a:endParaRPr sz="200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/>
          <p:nvPr/>
        </p:nvSpPr>
        <p:spPr>
          <a:xfrm>
            <a:off x="6298957" y="1054294"/>
            <a:ext cx="6764179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lang="en-US" sz="44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Актуальность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44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темы</a:t>
            </a:r>
            <a:endParaRPr sz="4400" b="0" i="0" u="none" strike="noStrike" cap="none" dirty="0"/>
          </a:p>
        </p:txBody>
      </p:sp>
      <p:sp>
        <p:nvSpPr>
          <p:cNvPr id="68" name="Google Shape;68;p13"/>
          <p:cNvSpPr/>
          <p:nvPr/>
        </p:nvSpPr>
        <p:spPr>
          <a:xfrm>
            <a:off x="6324124" y="2922627"/>
            <a:ext cx="7468553" cy="3447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Рост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цифровых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платежей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усложнение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их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жизненных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циклов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требуют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оперативного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мониторинга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точного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измерения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метрик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Традиционные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подходы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требуют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доработок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из‑за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рассинхронизации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ошибок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 и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повторных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доставок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это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вызывает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ложные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инциденты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потерю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прозрачности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Необходим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модуль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учитывающий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временные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характеристики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защищающий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метрики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от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артефактов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повторной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доставки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обеспечивающий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своевременные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оповещения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об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отклонениях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 sz="1850" b="0" i="0" u="none" strike="noStrike" cap="non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799981" y="1021556"/>
            <a:ext cx="7051000" cy="638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nbounded"/>
              <a:buNone/>
            </a:pPr>
            <a:r>
              <a:rPr lang="en-US" sz="40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Цель и задачи работы</a:t>
            </a:r>
            <a:endParaRPr sz="400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799981" y="1955721"/>
            <a:ext cx="3673554" cy="2858929"/>
          </a:xfrm>
          <a:prstGeom prst="roundRect">
            <a:avLst>
              <a:gd name="adj" fmla="val 1139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1017032" y="2172772"/>
            <a:ext cx="2554724" cy="319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00"/>
              <a:buFont typeface="Unbounded"/>
              <a:buNone/>
            </a:pPr>
            <a:r>
              <a:rPr lang="en-US" sz="20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Цель</a:t>
            </a:r>
            <a:endParaRPr sz="2000" b="0" i="0" u="none" strike="noStrike" cap="none"/>
          </a:p>
        </p:txBody>
      </p:sp>
      <p:sp>
        <p:nvSpPr>
          <p:cNvPr id="78" name="Google Shape;78;p14"/>
          <p:cNvSpPr/>
          <p:nvPr/>
        </p:nvSpPr>
        <p:spPr>
          <a:xfrm>
            <a:off x="1017032" y="2610207"/>
            <a:ext cx="3239453" cy="198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Создать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модуль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мониторинга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потоковой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обработки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транзакций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для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точного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вычисления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эффективности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детекции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аномалий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в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реальном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времени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 sz="1700" b="0" i="0" u="none" strike="noStrike" cap="none" dirty="0"/>
          </a:p>
        </p:txBody>
      </p:sp>
      <p:sp>
        <p:nvSpPr>
          <p:cNvPr id="79" name="Google Shape;79;p14"/>
          <p:cNvSpPr/>
          <p:nvPr/>
        </p:nvSpPr>
        <p:spPr>
          <a:xfrm>
            <a:off x="4670465" y="1955721"/>
            <a:ext cx="3673554" cy="2858929"/>
          </a:xfrm>
          <a:prstGeom prst="roundRect">
            <a:avLst>
              <a:gd name="adj" fmla="val 1139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4887516" y="2172772"/>
            <a:ext cx="3239453" cy="638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00"/>
              <a:buFont typeface="Unbounded"/>
              <a:buNone/>
            </a:pPr>
            <a:r>
              <a:rPr lang="en-US" sz="20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Задачи — контракты</a:t>
            </a:r>
            <a:endParaRPr sz="2000" b="0" i="0" u="none" strike="noStrike" cap="none"/>
          </a:p>
        </p:txBody>
      </p:sp>
      <p:sp>
        <p:nvSpPr>
          <p:cNvPr id="81" name="Google Shape;81;p14"/>
          <p:cNvSpPr/>
          <p:nvPr/>
        </p:nvSpPr>
        <p:spPr>
          <a:xfrm>
            <a:off x="4887516" y="2929533"/>
            <a:ext cx="3239453" cy="16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Формализация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контракта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событий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: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служебная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информация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+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полезная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нагрузка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версионирование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системы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 sz="1700" b="0" i="0" u="none" strike="noStrike" cap="none" dirty="0"/>
          </a:p>
        </p:txBody>
      </p:sp>
      <p:sp>
        <p:nvSpPr>
          <p:cNvPr id="82" name="Google Shape;82;p14"/>
          <p:cNvSpPr/>
          <p:nvPr/>
        </p:nvSpPr>
        <p:spPr>
          <a:xfrm>
            <a:off x="799981" y="5011579"/>
            <a:ext cx="3673554" cy="2196465"/>
          </a:xfrm>
          <a:prstGeom prst="roundRect">
            <a:avLst>
              <a:gd name="adj" fmla="val 1483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1017032" y="5228630"/>
            <a:ext cx="3040737" cy="319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00"/>
              <a:buFont typeface="Unbounded"/>
              <a:buNone/>
            </a:pPr>
            <a:r>
              <a:rPr lang="en-US" sz="20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Временная модель</a:t>
            </a:r>
            <a:endParaRPr sz="2000" b="0" i="0" u="none" strike="noStrike" cap="none"/>
          </a:p>
        </p:txBody>
      </p:sp>
      <p:sp>
        <p:nvSpPr>
          <p:cNvPr id="84" name="Google Shape;84;p14"/>
          <p:cNvSpPr/>
          <p:nvPr/>
        </p:nvSpPr>
        <p:spPr>
          <a:xfrm>
            <a:off x="1017032" y="5666065"/>
            <a:ext cx="3239453" cy="1324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Обработка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данных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должна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выполняеться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с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учётом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фактического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времени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возникновения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70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событий</a:t>
            </a:r>
            <a:r>
              <a:rPr lang="en-US" sz="170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 sz="1700" b="0" i="0" u="none" strike="noStrike" cap="none" dirty="0"/>
          </a:p>
        </p:txBody>
      </p:sp>
      <p:sp>
        <p:nvSpPr>
          <p:cNvPr id="85" name="Google Shape;85;p14"/>
          <p:cNvSpPr/>
          <p:nvPr/>
        </p:nvSpPr>
        <p:spPr>
          <a:xfrm>
            <a:off x="4670465" y="5011579"/>
            <a:ext cx="3673554" cy="2196465"/>
          </a:xfrm>
          <a:prstGeom prst="roundRect">
            <a:avLst>
              <a:gd name="adj" fmla="val 1483"/>
            </a:avLst>
          </a:prstGeom>
          <a:solidFill>
            <a:srgbClr val="304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4887516" y="5228630"/>
            <a:ext cx="2554724" cy="319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00"/>
              <a:buFont typeface="Unbounded"/>
              <a:buNone/>
            </a:pPr>
            <a:r>
              <a:rPr lang="en-US" sz="20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Надёжность</a:t>
            </a:r>
            <a:endParaRPr sz="2000" b="0" i="0" u="none" strike="noStrike" cap="none"/>
          </a:p>
        </p:txBody>
      </p:sp>
      <p:sp>
        <p:nvSpPr>
          <p:cNvPr id="87" name="Google Shape;87;p14"/>
          <p:cNvSpPr/>
          <p:nvPr/>
        </p:nvSpPr>
        <p:spPr>
          <a:xfrm>
            <a:off x="4887516" y="5666065"/>
            <a:ext cx="3239453" cy="1324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lang="en-US" sz="170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Дедупликация, идемпотентность сообщений и телеметрия для наблюдаемости и аудита.</a:t>
            </a:r>
            <a:endParaRPr sz="170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6324124" y="2027277"/>
            <a:ext cx="7326273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lang="en-US" sz="4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Ограничения задачи</a:t>
            </a:r>
            <a:endParaRPr sz="4400" b="0" i="0" u="none" strike="noStrike" cap="none"/>
          </a:p>
        </p:txBody>
      </p:sp>
      <p:sp>
        <p:nvSpPr>
          <p:cNvPr id="95" name="Google Shape;95;p15"/>
          <p:cNvSpPr/>
          <p:nvPr/>
        </p:nvSpPr>
        <p:spPr>
          <a:xfrm>
            <a:off x="6324124" y="3305651"/>
            <a:ext cx="3442335" cy="153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Ограничения по хранению чувствительных данных, пользовательских данных, правила версионирования</a:t>
            </a:r>
            <a:endParaRPr sz="1850" b="0" i="0" u="none" strike="noStrike" cap="none"/>
          </a:p>
        </p:txBody>
      </p:sp>
      <p:sp>
        <p:nvSpPr>
          <p:cNvPr id="96" name="Google Shape;96;p15"/>
          <p:cNvSpPr/>
          <p:nvPr/>
        </p:nvSpPr>
        <p:spPr>
          <a:xfrm>
            <a:off x="10357961" y="3305651"/>
            <a:ext cx="3442335" cy="268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Технические ограничения: лимиты на хранение состояний, совместимость с текущими брокерами и БД, восстановление после ошибок без потери эффективности.</a:t>
            </a:r>
            <a:endParaRPr sz="18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825579" y="658535"/>
            <a:ext cx="7492841" cy="1109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Unbounded"/>
              <a:buNone/>
            </a:pPr>
            <a:r>
              <a:rPr lang="en-US" sz="345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Порядок выполнения работы</a:t>
            </a:r>
            <a:endParaRPr sz="3450" b="0" i="0" u="none" strike="noStrike" cap="none"/>
          </a:p>
        </p:txBody>
      </p:sp>
      <p:sp>
        <p:nvSpPr>
          <p:cNvPr id="104" name="Google Shape;104;p16"/>
          <p:cNvSpPr/>
          <p:nvPr/>
        </p:nvSpPr>
        <p:spPr>
          <a:xfrm>
            <a:off x="825568" y="1991550"/>
            <a:ext cx="572400" cy="2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Unbounded"/>
              <a:buNone/>
            </a:pPr>
            <a:r>
              <a:rPr lang="en-US" sz="145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sz="1450" b="0" i="0" u="none" strike="noStrike" cap="none"/>
          </a:p>
        </p:txBody>
      </p:sp>
      <p:sp>
        <p:nvSpPr>
          <p:cNvPr id="105" name="Google Shape;105;p16"/>
          <p:cNvSpPr/>
          <p:nvPr/>
        </p:nvSpPr>
        <p:spPr>
          <a:xfrm>
            <a:off x="825579" y="2289334"/>
            <a:ext cx="7492841" cy="2286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825579" y="2429351"/>
            <a:ext cx="3730943" cy="27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-US" sz="17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Сбор и анализ требований</a:t>
            </a:r>
            <a:endParaRPr sz="1700" b="0" i="0" u="none" strike="noStrike" cap="none"/>
          </a:p>
        </p:txBody>
      </p:sp>
      <p:sp>
        <p:nvSpPr>
          <p:cNvPr id="107" name="Google Shape;107;p16"/>
          <p:cNvSpPr/>
          <p:nvPr/>
        </p:nvSpPr>
        <p:spPr>
          <a:xfrm>
            <a:off x="825579" y="2796064"/>
            <a:ext cx="7492841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None/>
            </a:pPr>
            <a:r>
              <a:rPr lang="en-US" sz="14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Исследование предметной области и формализация контрактов </a:t>
            </a:r>
            <a:endParaRPr sz="1450" b="0" i="0" u="none" strike="noStrike" cap="none"/>
          </a:p>
        </p:txBody>
      </p:sp>
      <p:sp>
        <p:nvSpPr>
          <p:cNvPr id="108" name="Google Shape;108;p16"/>
          <p:cNvSpPr/>
          <p:nvPr/>
        </p:nvSpPr>
        <p:spPr>
          <a:xfrm>
            <a:off x="825544" y="3356125"/>
            <a:ext cx="1654800" cy="2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Unbounded"/>
              <a:buNone/>
            </a:pPr>
            <a:r>
              <a:rPr lang="en-US" sz="145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sz="1450" b="0" i="0" u="none" strike="noStrike" cap="none"/>
          </a:p>
        </p:txBody>
      </p:sp>
      <p:sp>
        <p:nvSpPr>
          <p:cNvPr id="109" name="Google Shape;109;p16"/>
          <p:cNvSpPr/>
          <p:nvPr/>
        </p:nvSpPr>
        <p:spPr>
          <a:xfrm>
            <a:off x="825579" y="3653909"/>
            <a:ext cx="7492841" cy="2286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825579" y="3793927"/>
            <a:ext cx="2339459" cy="27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-US" sz="17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Проектирование</a:t>
            </a:r>
            <a:endParaRPr sz="1700" b="0" i="0" u="none" strike="noStrike" cap="none"/>
          </a:p>
        </p:txBody>
      </p:sp>
      <p:sp>
        <p:nvSpPr>
          <p:cNvPr id="111" name="Google Shape;111;p16"/>
          <p:cNvSpPr/>
          <p:nvPr/>
        </p:nvSpPr>
        <p:spPr>
          <a:xfrm>
            <a:off x="825579" y="4160639"/>
            <a:ext cx="7492841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None/>
            </a:pPr>
            <a:r>
              <a:rPr lang="en-US" sz="14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Архитектура и временная модель </a:t>
            </a:r>
            <a:endParaRPr sz="1450" b="0" i="0" u="none" strike="noStrike" cap="none"/>
          </a:p>
        </p:txBody>
      </p:sp>
      <p:sp>
        <p:nvSpPr>
          <p:cNvPr id="112" name="Google Shape;112;p16"/>
          <p:cNvSpPr/>
          <p:nvPr/>
        </p:nvSpPr>
        <p:spPr>
          <a:xfrm>
            <a:off x="825567" y="4720700"/>
            <a:ext cx="572400" cy="2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Unbounded"/>
              <a:buNone/>
            </a:pPr>
            <a:r>
              <a:rPr lang="en-US" sz="145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sz="1450" b="0" i="0" u="none" strike="noStrike" cap="none"/>
          </a:p>
        </p:txBody>
      </p:sp>
      <p:sp>
        <p:nvSpPr>
          <p:cNvPr id="113" name="Google Shape;113;p16"/>
          <p:cNvSpPr/>
          <p:nvPr/>
        </p:nvSpPr>
        <p:spPr>
          <a:xfrm>
            <a:off x="825579" y="5018484"/>
            <a:ext cx="7492841" cy="2286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825579" y="5158502"/>
            <a:ext cx="2220039" cy="27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-US" sz="17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Реализация</a:t>
            </a:r>
            <a:endParaRPr sz="1700" b="0" i="0" u="none" strike="noStrike" cap="none"/>
          </a:p>
        </p:txBody>
      </p:sp>
      <p:sp>
        <p:nvSpPr>
          <p:cNvPr id="115" name="Google Shape;115;p16"/>
          <p:cNvSpPr/>
          <p:nvPr/>
        </p:nvSpPr>
        <p:spPr>
          <a:xfrm>
            <a:off x="825579" y="5525214"/>
            <a:ext cx="7492841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None/>
            </a:pPr>
            <a:r>
              <a:rPr lang="en-US" sz="14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Серверные</a:t>
            </a:r>
            <a:r>
              <a:rPr lang="en-US" sz="14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4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компоненты</a:t>
            </a:r>
            <a:r>
              <a:rPr lang="en-US" sz="14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4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интеграция</a:t>
            </a:r>
            <a:r>
              <a:rPr lang="en-US" sz="14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с </a:t>
            </a:r>
            <a:r>
              <a:rPr lang="en-US" sz="14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брокером</a:t>
            </a:r>
            <a:r>
              <a:rPr lang="en-US" sz="14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БД</a:t>
            </a:r>
            <a:endParaRPr sz="1450" b="0" i="0" u="none" strike="noStrike" cap="none" dirty="0"/>
          </a:p>
        </p:txBody>
      </p:sp>
      <p:sp>
        <p:nvSpPr>
          <p:cNvPr id="116" name="Google Shape;116;p16"/>
          <p:cNvSpPr/>
          <p:nvPr/>
        </p:nvSpPr>
        <p:spPr>
          <a:xfrm>
            <a:off x="825560" y="6085275"/>
            <a:ext cx="919200" cy="2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Unbounded"/>
              <a:buNone/>
            </a:pPr>
            <a:r>
              <a:rPr lang="en-US" sz="145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sz="1450" b="0" i="0" u="none" strike="noStrike" cap="none"/>
          </a:p>
        </p:txBody>
      </p:sp>
      <p:sp>
        <p:nvSpPr>
          <p:cNvPr id="117" name="Google Shape;117;p16"/>
          <p:cNvSpPr/>
          <p:nvPr/>
        </p:nvSpPr>
        <p:spPr>
          <a:xfrm>
            <a:off x="825579" y="6383060"/>
            <a:ext cx="7492841" cy="2286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825579" y="6523077"/>
            <a:ext cx="3366135" cy="27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lang="en-US" sz="17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Тестирование и отладка</a:t>
            </a:r>
            <a:endParaRPr sz="1700" b="0" i="0" u="none" strike="noStrike" cap="none"/>
          </a:p>
        </p:txBody>
      </p:sp>
      <p:sp>
        <p:nvSpPr>
          <p:cNvPr id="119" name="Google Shape;119;p16"/>
          <p:cNvSpPr/>
          <p:nvPr/>
        </p:nvSpPr>
        <p:spPr>
          <a:xfrm>
            <a:off x="825579" y="6889790"/>
            <a:ext cx="7492841" cy="53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None/>
            </a:pPr>
            <a:r>
              <a:rPr lang="en-US" sz="14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Нагрузочное тестирование, отладка и оформление заключения — оставшиеся этапы.</a:t>
            </a:r>
            <a:endParaRPr sz="145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6324124" y="1675328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lang="en-US" sz="4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Средства и методы разработки</a:t>
            </a:r>
            <a:endParaRPr sz="4400" b="0" i="0" u="none" strike="noStrike" cap="none"/>
          </a:p>
        </p:txBody>
      </p:sp>
      <p:sp>
        <p:nvSpPr>
          <p:cNvPr id="127" name="Google Shape;127;p17"/>
          <p:cNvSpPr/>
          <p:nvPr/>
        </p:nvSpPr>
        <p:spPr>
          <a:xfrm>
            <a:off x="6324124" y="3657719"/>
            <a:ext cx="3442335" cy="268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Стриминговые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движки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state-store (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напр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.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RocksDB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с changelog),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брокеры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сообщений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и Postgres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для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долговременного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хранения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gRPC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для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50" b="0" i="0" u="none" strike="noStrike" cap="none" dirty="0" err="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взаимодействия</a:t>
            </a:r>
            <a:r>
              <a:rPr lang="en-US" sz="1850" b="0" i="0" u="none" strike="noStrike" cap="none" dirty="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с API.</a:t>
            </a:r>
            <a:endParaRPr sz="1850" b="0" i="0" u="none" strike="noStrike" cap="none" dirty="0"/>
          </a:p>
        </p:txBody>
      </p:sp>
      <p:sp>
        <p:nvSpPr>
          <p:cNvPr id="128" name="Google Shape;128;p17"/>
          <p:cNvSpPr/>
          <p:nvPr/>
        </p:nvSpPr>
        <p:spPr>
          <a:xfrm>
            <a:off x="10357961" y="3657719"/>
            <a:ext cx="3442335" cy="268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Наблюдаемость: метрики, структурированные логи, трассировка. Тестирование: сценарии late events, повторных доставок и восстановления после отказов.</a:t>
            </a:r>
            <a:endParaRPr sz="185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6818124" y="3410783"/>
            <a:ext cx="7468500" cy="1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lang="en-US" sz="4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Архитектура проекта</a:t>
            </a:r>
            <a:endParaRPr sz="4400" b="0" i="0" u="none" strike="noStrike" cap="none"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628576" cy="822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4625" y="1187676"/>
            <a:ext cx="5203776" cy="585424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>
            <a:off x="990124" y="2465189"/>
            <a:ext cx="5639700" cy="1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lang="en-US" sz="4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QR‑код с ссылкой на код</a:t>
            </a:r>
            <a:endParaRPr sz="4400" b="0" i="0" u="none" strike="noStrike" cap="none"/>
          </a:p>
        </p:txBody>
      </p:sp>
      <p:sp>
        <p:nvSpPr>
          <p:cNvPr id="151" name="Google Shape;151;p20"/>
          <p:cNvSpPr/>
          <p:nvPr/>
        </p:nvSpPr>
        <p:spPr>
          <a:xfrm>
            <a:off x="990124" y="4232196"/>
            <a:ext cx="5639700" cy="1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Ссылка с исходным кодом и примерами доступна по QR‑коду. Отсканируйте для доступа к репозиторию и инструкциям по развёртыванию.</a:t>
            </a:r>
            <a:endParaRPr sz="1850" b="0" i="0" u="none" strike="noStrike" cap="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837724" y="2333625"/>
            <a:ext cx="12813149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lang="en-US" sz="4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Описание архитектуры </a:t>
            </a:r>
            <a:endParaRPr sz="4400" b="0" i="0" u="none" strike="noStrike" cap="none"/>
          </a:p>
        </p:txBody>
      </p:sp>
      <p:sp>
        <p:nvSpPr>
          <p:cNvPr id="158" name="Google Shape;158;p21"/>
          <p:cNvSpPr/>
          <p:nvPr/>
        </p:nvSpPr>
        <p:spPr>
          <a:xfrm>
            <a:off x="2042693" y="3516400"/>
            <a:ext cx="24225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lang="en-US" sz="22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API-Backend</a:t>
            </a:r>
            <a:endParaRPr sz="2200" b="0" i="0" u="none" strike="noStrike" cap="none"/>
          </a:p>
        </p:txBody>
      </p:sp>
      <p:sp>
        <p:nvSpPr>
          <p:cNvPr id="159" name="Google Shape;159;p21"/>
          <p:cNvSpPr/>
          <p:nvPr/>
        </p:nvSpPr>
        <p:spPr>
          <a:xfrm>
            <a:off x="1990143" y="4011925"/>
            <a:ext cx="24753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Приём и нормализация событий.</a:t>
            </a:r>
            <a:endParaRPr sz="1850" b="0" i="0" u="none" strike="noStrike" cap="none"/>
          </a:p>
        </p:txBody>
      </p:sp>
      <p:sp>
        <p:nvSpPr>
          <p:cNvPr id="160" name="Google Shape;160;p21"/>
          <p:cNvSpPr/>
          <p:nvPr/>
        </p:nvSpPr>
        <p:spPr>
          <a:xfrm>
            <a:off x="6191844" y="3516400"/>
            <a:ext cx="22467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lang="en-US" sz="2200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middleware</a:t>
            </a:r>
            <a:endParaRPr sz="2200" b="0" i="0" u="none" strike="noStrike" cap="none"/>
          </a:p>
        </p:txBody>
      </p:sp>
      <p:sp>
        <p:nvSpPr>
          <p:cNvPr id="161" name="Google Shape;161;p21"/>
          <p:cNvSpPr/>
          <p:nvPr/>
        </p:nvSpPr>
        <p:spPr>
          <a:xfrm>
            <a:off x="6032994" y="4011925"/>
            <a:ext cx="2564400" cy="1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Логирование и мониторинг состояния сетевой части.</a:t>
            </a:r>
            <a:endParaRPr sz="185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10326175" y="3516400"/>
            <a:ext cx="29379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lang="en-US" sz="2200" b="0" i="0" u="none" strike="noStrike" cap="non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Web‑интерфейс</a:t>
            </a:r>
            <a:endParaRPr sz="2200" b="0" i="0" u="none" strike="noStrike" cap="none"/>
          </a:p>
        </p:txBody>
      </p:sp>
      <p:sp>
        <p:nvSpPr>
          <p:cNvPr id="163" name="Google Shape;163;p21"/>
          <p:cNvSpPr/>
          <p:nvPr/>
        </p:nvSpPr>
        <p:spPr>
          <a:xfrm>
            <a:off x="10326182" y="4363879"/>
            <a:ext cx="1841100" cy="1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lang="en-US" sz="1850" b="0" i="0" u="none" strike="noStrike" cap="non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Просмотр метрик и управление правилами.</a:t>
            </a:r>
            <a:endParaRPr sz="185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390</Words>
  <Application>Microsoft Office PowerPoint</Application>
  <PresentationFormat>Произвольный</PresentationFormat>
  <Paragraphs>59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Unbounded</vt:lpstr>
      <vt:lpstr>Cabin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Михаил Пирязев</cp:lastModifiedBy>
  <cp:revision>3</cp:revision>
  <dcterms:modified xsi:type="dcterms:W3CDTF">2026-04-11T11:14:33Z</dcterms:modified>
</cp:coreProperties>
</file>