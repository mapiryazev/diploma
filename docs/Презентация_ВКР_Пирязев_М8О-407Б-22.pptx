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tkinson Hyperlegible" panose="020B0604020202020204" charset="0"/>
      <p:regular r:id="rId18"/>
    </p:embeddedFont>
    <p:embeddedFont>
      <p:font typeface="IBM Plex Sans Thai Looped" panose="020B0604020202020204" charset="-3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64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968530" y="3145033"/>
            <a:ext cx="15065227" cy="3248180"/>
            <a:chOff x="0" y="0"/>
            <a:chExt cx="20086970" cy="43309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086971" cy="4330912"/>
            </a:xfrm>
            <a:custGeom>
              <a:avLst/>
              <a:gdLst/>
              <a:ahLst/>
              <a:cxnLst/>
              <a:rect l="l" t="t" r="r" b="b"/>
              <a:pathLst>
                <a:path w="20086971" h="4330912">
                  <a:moveTo>
                    <a:pt x="0" y="0"/>
                  </a:moveTo>
                  <a:lnTo>
                    <a:pt x="20086971" y="0"/>
                  </a:lnTo>
                  <a:lnTo>
                    <a:pt x="20086971" y="4330912"/>
                  </a:lnTo>
                  <a:lnTo>
                    <a:pt x="0" y="4330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0" r="3063" b="-5520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20086970" cy="42832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6"/>
                </a:lnSpc>
              </a:pPr>
              <a:r>
                <a:rPr lang="en-US" sz="400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ВЫПУСКНАЯ КВАЛИФИКАЦИОННАЯ РАБОТА БАКАЛАВРА</a:t>
              </a:r>
            </a:p>
            <a:p>
              <a:pPr algn="ctr">
                <a:lnSpc>
                  <a:spcPts val="4536"/>
                </a:lnSpc>
              </a:pPr>
              <a:r>
                <a:rPr lang="en-US" sz="400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НА ТЕМУ</a:t>
              </a:r>
              <a:r>
                <a:rPr lang="en-US" sz="420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:</a:t>
              </a:r>
            </a:p>
            <a:p>
              <a:pPr algn="ctr">
                <a:lnSpc>
                  <a:spcPts val="4374"/>
                </a:lnSpc>
              </a:pPr>
              <a:r>
                <a:rPr lang="en-US" sz="405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«</a:t>
              </a:r>
              <a:r>
                <a:rPr lang="ru-RU" sz="405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ПРОЕКТИРОВАНИЕ МИКРОСЕРВИСНОЙ СИСТЕМЫ ПОТОКОВОЙ ОБРАБОТКИ ФИНАНСОВЫХ ТРАНЗАКЦИЙ</a:t>
              </a:r>
              <a:r>
                <a:rPr lang="en-US" sz="405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»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3907" y="7313219"/>
            <a:ext cx="15799851" cy="2872800"/>
            <a:chOff x="0" y="0"/>
            <a:chExt cx="21066468" cy="3830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66474" cy="3830404"/>
            </a:xfrm>
            <a:custGeom>
              <a:avLst/>
              <a:gdLst/>
              <a:ahLst/>
              <a:cxnLst/>
              <a:rect l="l" t="t" r="r" b="b"/>
              <a:pathLst>
                <a:path w="21066474" h="3830404">
                  <a:moveTo>
                    <a:pt x="0" y="0"/>
                  </a:moveTo>
                  <a:lnTo>
                    <a:pt x="21066474" y="0"/>
                  </a:lnTo>
                  <a:lnTo>
                    <a:pt x="21066474" y="3830404"/>
                  </a:lnTo>
                  <a:lnTo>
                    <a:pt x="0" y="3830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790" r="5013" b="-51790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21066468" cy="3801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Студент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группы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МО-407Б-22: Пирязев Михаил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Александрович</a:t>
              </a:r>
              <a:endParaRPr lang="en-US" sz="28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  <a:p>
              <a:pPr algn="l">
                <a:lnSpc>
                  <a:spcPts val="3024"/>
                </a:lnSpc>
              </a:pP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Научный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руководитель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: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кандидат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физико-математических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наук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,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доцент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,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доцент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806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кафедры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МАИ С.В. </a:t>
              </a:r>
              <a:r>
                <a:rPr lang="en-US" sz="28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Кузнецова</a:t>
              </a:r>
              <a:r>
                <a:rPr lang="en-US" sz="28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</a:p>
            <a:p>
              <a:pPr algn="l">
                <a:lnSpc>
                  <a:spcPts val="3240"/>
                </a:lnSpc>
              </a:pPr>
              <a:endParaRPr lang="en-US" sz="28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  <a:p>
              <a:pPr algn="ctr">
                <a:lnSpc>
                  <a:spcPts val="3240"/>
                </a:lnSpc>
              </a:pPr>
              <a:r>
                <a:rPr lang="en-US" sz="3000" dirty="0" err="1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Москва</a:t>
              </a:r>
              <a:r>
                <a:rPr lang="en-US" sz="3000" dirty="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– 2026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54761" y="437293"/>
            <a:ext cx="14463722" cy="2184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7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Московский</a:t>
            </a:r>
            <a:r>
              <a:rPr lang="en-US" sz="27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27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авиационный</a:t>
            </a:r>
            <a:r>
              <a:rPr lang="en-US" sz="27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27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институт</a:t>
            </a:r>
            <a:r>
              <a:rPr lang="en-US" sz="27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(</a:t>
            </a:r>
            <a:r>
              <a:rPr lang="en-US" sz="27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национальный</a:t>
            </a:r>
            <a:r>
              <a:rPr lang="en-US" sz="27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27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исследовательский</a:t>
            </a:r>
            <a:r>
              <a:rPr lang="en-US" sz="27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27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университет</a:t>
            </a:r>
            <a:r>
              <a:rPr lang="en-US" sz="27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)</a:t>
            </a:r>
          </a:p>
          <a:p>
            <a:pPr algn="ctr">
              <a:lnSpc>
                <a:spcPts val="2940"/>
              </a:lnSpc>
            </a:pPr>
            <a:endParaRPr lang="en-US" sz="27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2940"/>
              </a:lnSpc>
            </a:pP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Институт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№ 8 «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Компьютерные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науки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прикладная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математика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»</a:t>
            </a:r>
          </a:p>
          <a:p>
            <a:pPr algn="ctr">
              <a:lnSpc>
                <a:spcPts val="2940"/>
              </a:lnSpc>
            </a:pPr>
            <a:endParaRPr lang="en-US" sz="30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2940"/>
              </a:lnSpc>
            </a:pP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Кафедра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№ 806 «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Вычислительная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математика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</a:t>
            </a:r>
            <a:r>
              <a:rPr lang="en-US" sz="30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программирование</a:t>
            </a:r>
            <a:r>
              <a:rPr lang="en-US" sz="30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»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АКТУАЛЬНОСТЬ ТЕМЫ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48559" y="2784062"/>
            <a:ext cx="15589444" cy="4488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Рост количества безналичных платежей и усложнение их жизненного цикла требуют оперативной и достоверной фиксации операций. Асинхронная обработка, задержки, повторы и неупорядоченность событий усложняют их учёт и мониторинг. Это повышает требования к надежности систем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средствам их контроля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а также требует возможности независимо развивать их компоненты</a:t>
            </a:r>
            <a:endParaRPr lang="en-US" sz="42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ЦЕЛЬ И ЗАДАЧИ РАБОТЫ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57119" y="2414340"/>
            <a:ext cx="16292341" cy="661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Цель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спроектировать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реализовать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систему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приёма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хранения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обработки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транзакций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с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возможностью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оперативного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мониторинга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разделенную на сервисы</a:t>
            </a:r>
            <a:endParaRPr lang="en-US" sz="3884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4661"/>
              </a:lnSpc>
            </a:pP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Задачи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:</a:t>
            </a:r>
          </a:p>
          <a:p>
            <a:pPr marL="1677543" lvl="2" indent="-559181" algn="l">
              <a:lnSpc>
                <a:spcPts val="4661"/>
              </a:lnSpc>
              <a:buFont typeface="Arial"/>
              <a:buChar char="⚬"/>
            </a:pP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Спроектировать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систему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с разделением на компоненты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: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модель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данных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API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для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операций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аналитики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механизмы хранения и валидации</a:t>
            </a:r>
            <a:endParaRPr lang="en-US" sz="3884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1677543" lvl="2" indent="-559181" algn="l">
              <a:lnSpc>
                <a:spcPts val="4661"/>
              </a:lnSpc>
              <a:buFont typeface="Arial"/>
              <a:buChar char="⚬"/>
            </a:pP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Реализовать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ru-RU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отказоустйчивый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функционал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обработки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сообщений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с использованием брокера</a:t>
            </a:r>
            <a:endParaRPr lang="en-US" sz="3884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1677543" lvl="2" indent="-559181" algn="l">
              <a:lnSpc>
                <a:spcPts val="4661"/>
              </a:lnSpc>
              <a:buFont typeface="Arial"/>
              <a:buChar char="⚬"/>
            </a:pP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Обеспечить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наблюдаемость 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надёжность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ru-RU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компонентов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помощи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метрик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дашбордов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</a:t>
            </a:r>
            <a:r>
              <a:rPr lang="en-US" sz="3884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логов</a:t>
            </a:r>
            <a:r>
              <a:rPr lang="en-US" sz="3884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2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ОГРАНИЧЕНИЯ ЗАДАЧИ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48559" y="2784062"/>
            <a:ext cx="15589444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 algn="l">
              <a:lnSpc>
                <a:spcPts val="5040"/>
              </a:lnSpc>
              <a:buFont typeface="Arial"/>
              <a:buChar char="•"/>
            </a:pP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Разработка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фокусируется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на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backend-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составляющей</a:t>
            </a:r>
            <a:endParaRPr lang="en-US" sz="42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906780" lvl="1" indent="-453390" algn="l">
              <a:lnSpc>
                <a:spcPts val="5040"/>
              </a:lnSpc>
              <a:buFont typeface="Arial"/>
              <a:buChar char="•"/>
            </a:pP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Не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полностью </a:t>
            </a: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рассмотрены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вопросы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сертификации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по стандарту </a:t>
            </a:r>
            <a:r>
              <a:rPr lang="en-US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PCI DSS, 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а также </a:t>
            </a:r>
            <a:r>
              <a:rPr lang="ru-RU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соблюдени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юридических требований банковских регуляторов</a:t>
            </a:r>
            <a:endParaRPr lang="en-US" sz="42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906780" lvl="1" indent="-453390" algn="l">
              <a:lnSpc>
                <a:spcPts val="5040"/>
              </a:lnSpc>
              <a:buFont typeface="Arial"/>
              <a:buChar char="•"/>
            </a:pP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 работе рассматривается один экземпляр системы без кластеризации и масштабирования</a:t>
            </a:r>
            <a:endParaRPr lang="en-US" sz="42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3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ПОРЯДОК ВЫПОЛНЕНИЯ РАБОТЫ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48559" y="2784062"/>
            <a:ext cx="15589444" cy="559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591" lvl="1" indent="-365796" algn="l">
              <a:lnSpc>
                <a:spcPts val="4851"/>
              </a:lnSpc>
              <a:buFont typeface="Arial"/>
              <a:buChar char="•"/>
            </a:pP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Проанализировать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рынок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существующие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решения</a:t>
            </a:r>
            <a:r>
              <a:rPr lang="ru-RU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их недостатки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.</a:t>
            </a:r>
          </a:p>
          <a:p>
            <a:pPr marL="731591" lvl="1" indent="-365796" algn="l">
              <a:lnSpc>
                <a:spcPts val="4851"/>
              </a:lnSpc>
              <a:buFont typeface="Arial"/>
              <a:buChar char="•"/>
            </a:pPr>
            <a:r>
              <a:rPr lang="ru-RU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Собрать основу сервиса по шаблону – подготовить модули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каталоги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файлы </a:t>
            </a:r>
            <a:r>
              <a:rPr lang="ru-RU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конфигунации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ru-RU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стартовое поведение</a:t>
            </a:r>
            <a:endParaRPr lang="en-US" sz="4042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731591" lvl="1" indent="-365796" algn="l">
              <a:lnSpc>
                <a:spcPts val="4851"/>
              </a:lnSpc>
              <a:buFont typeface="Arial"/>
              <a:buChar char="•"/>
            </a:pP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Работа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с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брокером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: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продюсер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конс</a:t>
            </a:r>
            <a:r>
              <a:rPr lang="ru-RU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ь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юмер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DLQ и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гарантии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доставки</a:t>
            </a:r>
            <a:endParaRPr lang="en-US" sz="4042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731591" lvl="1" indent="-365796" algn="l">
              <a:lnSpc>
                <a:spcPts val="4851"/>
              </a:lnSpc>
              <a:buFont typeface="Arial"/>
              <a:buChar char="•"/>
            </a:pP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Обеспечить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возможность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наблюдаемости</a:t>
            </a:r>
            <a:endParaRPr lang="en-US" sz="4042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731591" lvl="1" indent="-365796" algn="l">
              <a:lnSpc>
                <a:spcPts val="4851"/>
              </a:lnSpc>
              <a:buFont typeface="Arial"/>
              <a:buChar char="•"/>
            </a:pP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Провести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тестирование</a:t>
            </a:r>
            <a:r>
              <a:rPr lang="en-US" sz="4042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42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системы</a:t>
            </a:r>
            <a:endParaRPr lang="en-US" sz="4042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731591" lvl="1" indent="-365796" algn="l">
              <a:lnSpc>
                <a:spcPts val="4365"/>
              </a:lnSpc>
            </a:pPr>
            <a:endParaRPr lang="en-US" sz="4042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4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ru-RU" sz="6000" dirty="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СРЕДСТВА И МЕТОДЫ РАЗРАБОТКИ</a:t>
              </a:r>
              <a:endParaRPr lang="en-US" sz="6000" dirty="0">
                <a:solidFill>
                  <a:srgbClr val="4F86C6"/>
                </a:solidFill>
                <a:latin typeface="IBM Plex Sans Thai Looped"/>
                <a:ea typeface="IBM Plex Sans Thai Looped"/>
                <a:cs typeface="IBM Plex Sans Thai Looped"/>
                <a:sym typeface="IBM Plex Sans Thai Loope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0002" y="2407872"/>
            <a:ext cx="15255535" cy="5680805"/>
            <a:chOff x="0" y="0"/>
            <a:chExt cx="20340714" cy="7574407"/>
          </a:xfrm>
        </p:grpSpPr>
        <p:grpSp>
          <p:nvGrpSpPr>
            <p:cNvPr id="8" name="Group 8"/>
            <p:cNvGrpSpPr/>
            <p:nvPr/>
          </p:nvGrpSpPr>
          <p:grpSpPr>
            <a:xfrm>
              <a:off x="6655676" y="374396"/>
              <a:ext cx="3064320" cy="3239999"/>
              <a:chOff x="0" y="0"/>
              <a:chExt cx="3064320" cy="323999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064383" cy="3240024"/>
              </a:xfrm>
              <a:custGeom>
                <a:avLst/>
                <a:gdLst/>
                <a:ahLst/>
                <a:cxnLst/>
                <a:rect l="l" t="t" r="r" b="b"/>
                <a:pathLst>
                  <a:path w="3064383" h="3240024">
                    <a:moveTo>
                      <a:pt x="0" y="0"/>
                    </a:moveTo>
                    <a:lnTo>
                      <a:pt x="3064383" y="0"/>
                    </a:lnTo>
                    <a:lnTo>
                      <a:pt x="3064383" y="3240024"/>
                    </a:lnTo>
                    <a:lnTo>
                      <a:pt x="0" y="32400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7" r="-67"/>
                </a:stretch>
              </a:blip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16199993" y="0"/>
              <a:ext cx="3960000" cy="3974402"/>
              <a:chOff x="0" y="0"/>
              <a:chExt cx="3960000" cy="397440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959987" cy="3974338"/>
              </a:xfrm>
              <a:custGeom>
                <a:avLst/>
                <a:gdLst/>
                <a:ahLst/>
                <a:cxnLst/>
                <a:rect l="l" t="t" r="r" b="b"/>
                <a:pathLst>
                  <a:path w="3959987" h="3974338">
                    <a:moveTo>
                      <a:pt x="0" y="0"/>
                    </a:moveTo>
                    <a:lnTo>
                      <a:pt x="3959987" y="0"/>
                    </a:lnTo>
                    <a:lnTo>
                      <a:pt x="3959987" y="3974338"/>
                    </a:lnTo>
                    <a:lnTo>
                      <a:pt x="0" y="39743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58" b="-58"/>
                </a:stretch>
              </a:blip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59994" y="4643272"/>
              <a:ext cx="5759996" cy="2571115"/>
              <a:chOff x="0" y="0"/>
              <a:chExt cx="5759996" cy="257111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759958" cy="2571115"/>
              </a:xfrm>
              <a:custGeom>
                <a:avLst/>
                <a:gdLst/>
                <a:ahLst/>
                <a:cxnLst/>
                <a:rect l="l" t="t" r="r" b="b"/>
                <a:pathLst>
                  <a:path w="5759958" h="2571115">
                    <a:moveTo>
                      <a:pt x="0" y="0"/>
                    </a:moveTo>
                    <a:lnTo>
                      <a:pt x="5759958" y="0"/>
                    </a:lnTo>
                    <a:lnTo>
                      <a:pt x="5759958" y="2571115"/>
                    </a:lnTo>
                    <a:lnTo>
                      <a:pt x="0" y="25711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93" r="-93"/>
                </a:stretch>
              </a:blip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7919999" y="5007597"/>
              <a:ext cx="5814720" cy="2352243"/>
              <a:chOff x="0" y="0"/>
              <a:chExt cx="5814720" cy="235224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814695" cy="2352294"/>
              </a:xfrm>
              <a:custGeom>
                <a:avLst/>
                <a:gdLst/>
                <a:ahLst/>
                <a:cxnLst/>
                <a:rect l="l" t="t" r="r" b="b"/>
                <a:pathLst>
                  <a:path w="5814695" h="2352294">
                    <a:moveTo>
                      <a:pt x="0" y="0"/>
                    </a:moveTo>
                    <a:lnTo>
                      <a:pt x="5814695" y="0"/>
                    </a:lnTo>
                    <a:lnTo>
                      <a:pt x="5814695" y="2352294"/>
                    </a:lnTo>
                    <a:lnTo>
                      <a:pt x="0" y="235229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248" b="-248"/>
                </a:stretch>
              </a:blip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6199993" y="4813922"/>
              <a:ext cx="4140721" cy="2760485"/>
              <a:chOff x="0" y="0"/>
              <a:chExt cx="4140721" cy="276048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140708" cy="2760472"/>
              </a:xfrm>
              <a:custGeom>
                <a:avLst/>
                <a:gdLst/>
                <a:ahLst/>
                <a:cxnLst/>
                <a:rect l="l" t="t" r="r" b="b"/>
                <a:pathLst>
                  <a:path w="4140708" h="2760472">
                    <a:moveTo>
                      <a:pt x="0" y="0"/>
                    </a:moveTo>
                    <a:lnTo>
                      <a:pt x="4140708" y="0"/>
                    </a:lnTo>
                    <a:lnTo>
                      <a:pt x="4140708" y="2760472"/>
                    </a:lnTo>
                    <a:lnTo>
                      <a:pt x="0" y="276047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15" b="-115"/>
                </a:stretch>
              </a:blipFill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1519992" y="324002"/>
              <a:ext cx="3432238" cy="3290405"/>
              <a:chOff x="0" y="0"/>
              <a:chExt cx="3432238" cy="329040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432302" cy="3290443"/>
              </a:xfrm>
              <a:custGeom>
                <a:avLst/>
                <a:gdLst/>
                <a:ahLst/>
                <a:cxnLst/>
                <a:rect l="l" t="t" r="r" b="b"/>
                <a:pathLst>
                  <a:path w="3432302" h="3290443">
                    <a:moveTo>
                      <a:pt x="0" y="0"/>
                    </a:moveTo>
                    <a:lnTo>
                      <a:pt x="3432302" y="0"/>
                    </a:lnTo>
                    <a:lnTo>
                      <a:pt x="3432302" y="3290443"/>
                    </a:lnTo>
                    <a:lnTo>
                      <a:pt x="0" y="32904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t="-127" b="-127"/>
                </a:stretch>
              </a:blip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0" y="374396"/>
              <a:ext cx="5039995" cy="2880004"/>
              <a:chOff x="0" y="0"/>
              <a:chExt cx="5039995" cy="288000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039995" cy="2879979"/>
              </a:xfrm>
              <a:custGeom>
                <a:avLst/>
                <a:gdLst/>
                <a:ahLst/>
                <a:cxnLst/>
                <a:rect l="l" t="t" r="r" b="b"/>
                <a:pathLst>
                  <a:path w="5039995" h="2879979">
                    <a:moveTo>
                      <a:pt x="0" y="0"/>
                    </a:moveTo>
                    <a:lnTo>
                      <a:pt x="5039995" y="0"/>
                    </a:lnTo>
                    <a:lnTo>
                      <a:pt x="5039995" y="2879979"/>
                    </a:lnTo>
                    <a:lnTo>
                      <a:pt x="0" y="28799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141" r="-141"/>
                </a:stretch>
              </a:blipFill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5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191833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21029765" cy="259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4F86C6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Структура проекта, clean architecture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8766362"/>
            <a:ext cx="18287105" cy="652653"/>
            <a:chOff x="0" y="0"/>
            <a:chExt cx="24382806" cy="8702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2800" cy="870207"/>
            </a:xfrm>
            <a:custGeom>
              <a:avLst/>
              <a:gdLst/>
              <a:ahLst/>
              <a:cxnLst/>
              <a:rect l="l" t="t" r="r" b="b"/>
              <a:pathLst>
                <a:path w="24382800" h="870207">
                  <a:moveTo>
                    <a:pt x="0" y="0"/>
                  </a:moveTo>
                  <a:lnTo>
                    <a:pt x="24382800" y="0"/>
                  </a:lnTo>
                  <a:lnTo>
                    <a:pt x="24382800" y="870207"/>
                  </a:lnTo>
                  <a:lnTo>
                    <a:pt x="0" y="870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4096" b="-48782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4382806" cy="870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60003" y="1584629"/>
            <a:ext cx="14600828" cy="7950153"/>
            <a:chOff x="0" y="0"/>
            <a:chExt cx="18720003" cy="101930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20054" cy="10193020"/>
            </a:xfrm>
            <a:custGeom>
              <a:avLst/>
              <a:gdLst/>
              <a:ahLst/>
              <a:cxnLst/>
              <a:rect l="l" t="t" r="r" b="b"/>
              <a:pathLst>
                <a:path w="18720054" h="10193020">
                  <a:moveTo>
                    <a:pt x="0" y="0"/>
                  </a:moveTo>
                  <a:lnTo>
                    <a:pt x="18720054" y="0"/>
                  </a:lnTo>
                  <a:lnTo>
                    <a:pt x="18720054" y="10193020"/>
                  </a:lnTo>
                  <a:lnTo>
                    <a:pt x="0" y="10193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0" b="-16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6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37136" y="172260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ДИАГРАММА ПОТОКОВ ДАННЫХ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1836305"/>
            <a:ext cx="18410830" cy="6673926"/>
          </a:xfrm>
          <a:custGeom>
            <a:avLst/>
            <a:gdLst/>
            <a:ahLst/>
            <a:cxnLst/>
            <a:rect l="l" t="t" r="r" b="b"/>
            <a:pathLst>
              <a:path w="18410830" h="6673926">
                <a:moveTo>
                  <a:pt x="0" y="0"/>
                </a:moveTo>
                <a:lnTo>
                  <a:pt x="18410830" y="0"/>
                </a:lnTo>
                <a:lnTo>
                  <a:pt x="18410830" y="6673926"/>
                </a:lnTo>
                <a:lnTo>
                  <a:pt x="0" y="6673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7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385562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ГАРАНТИИ ДОСТАВКИ СООБЩЕНИЙ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8140" y="2160003"/>
            <a:ext cx="8671855" cy="4128297"/>
            <a:chOff x="0" y="0"/>
            <a:chExt cx="11562474" cy="55043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562461" cy="5504434"/>
            </a:xfrm>
            <a:custGeom>
              <a:avLst/>
              <a:gdLst/>
              <a:ahLst/>
              <a:cxnLst/>
              <a:rect l="l" t="t" r="r" b="b"/>
              <a:pathLst>
                <a:path w="11562461" h="5504434">
                  <a:moveTo>
                    <a:pt x="0" y="0"/>
                  </a:moveTo>
                  <a:lnTo>
                    <a:pt x="11562461" y="0"/>
                  </a:lnTo>
                  <a:lnTo>
                    <a:pt x="11562461" y="5504434"/>
                  </a:lnTo>
                  <a:lnTo>
                    <a:pt x="0" y="5504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" b="-19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30003" y="6644345"/>
            <a:ext cx="143511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События в БД отражают исключительно прошедшие операции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0003" y="7335002"/>
            <a:ext cx="1385297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Прогресс чтения подтверждается явно — только после исхода обработки сообщения.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0536" y="7335536"/>
            <a:ext cx="1385297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Прогресс чтения подтверждается явно — только после исхода обработки сообщения.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0003" y="8283778"/>
            <a:ext cx="1267321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Семантика обработки в текущем контуре — at least once.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09998" y="2745000"/>
            <a:ext cx="544800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Ack от лидера партиции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9998" y="3825002"/>
            <a:ext cx="776743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Ключ для стабилизации партиции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9998" y="4905004"/>
            <a:ext cx="765000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Проблема повторной доставки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8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385562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ИДЕМПОТЕТНОСТЬ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711096"/>
            <a:ext cx="7560002" cy="2770737"/>
            <a:chOff x="0" y="0"/>
            <a:chExt cx="10080003" cy="36943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79990" cy="3694303"/>
            </a:xfrm>
            <a:custGeom>
              <a:avLst/>
              <a:gdLst/>
              <a:ahLst/>
              <a:cxnLst/>
              <a:rect l="l" t="t" r="r" b="b"/>
              <a:pathLst>
                <a:path w="10079990" h="3694303">
                  <a:moveTo>
                    <a:pt x="0" y="0"/>
                  </a:moveTo>
                  <a:lnTo>
                    <a:pt x="10079990" y="0"/>
                  </a:lnTo>
                  <a:lnTo>
                    <a:pt x="10079990" y="3694303"/>
                  </a:lnTo>
                  <a:lnTo>
                    <a:pt x="0" y="3694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" r="-3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30003" y="6634820"/>
            <a:ext cx="13852979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93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Идемпотентность — это способность сервиса корректно обрабатывать дубликаты сообщений без ошибок, изменения функционала и побочных эффектов для системы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09998" y="2735475"/>
            <a:ext cx="683999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308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Журнал обработанных сообщений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09998" y="3825002"/>
            <a:ext cx="803215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Уникальный ключ записи в журнал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09998" y="4905004"/>
            <a:ext cx="765000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DLQ и replay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0003" y="8174698"/>
            <a:ext cx="1435159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Цель — не запретить повторы сообщений, а предусмотреть их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9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61560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21029765" cy="259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4F86C6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DLQ: отдельный топик для сбоев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0001" y="1405623"/>
            <a:ext cx="8369999" cy="7444445"/>
            <a:chOff x="0" y="0"/>
            <a:chExt cx="11159998" cy="9925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159998" cy="9925939"/>
            </a:xfrm>
            <a:custGeom>
              <a:avLst/>
              <a:gdLst/>
              <a:ahLst/>
              <a:cxnLst/>
              <a:rect l="l" t="t" r="r" b="b"/>
              <a:pathLst>
                <a:path w="11159998" h="9925939">
                  <a:moveTo>
                    <a:pt x="0" y="0"/>
                  </a:moveTo>
                  <a:lnTo>
                    <a:pt x="11159998" y="0"/>
                  </a:lnTo>
                  <a:lnTo>
                    <a:pt x="11159998" y="9925939"/>
                  </a:lnTo>
                  <a:lnTo>
                    <a:pt x="0" y="9925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" r="-3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809998" y="2395623"/>
            <a:ext cx="654456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313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Изоляция «опасных» сообщений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09998" y="4041000"/>
            <a:ext cx="73660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Оповещение при росте очереди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09998" y="4905004"/>
            <a:ext cx="765000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3064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Не восстанавливаемые бизнес-ошибки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09998" y="5890698"/>
            <a:ext cx="7650004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0"/>
              </a:lnSpc>
            </a:pPr>
            <a:r>
              <a:rPr lang="en-US" sz="3442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Требуется механизм повторной подачи сообщения в основной топик после устранения причины сбоя, зафиксированной в DLQ</a:t>
            </a:r>
          </a:p>
          <a:p>
            <a:pPr algn="l">
              <a:lnSpc>
                <a:spcPts val="4130"/>
              </a:lnSpc>
            </a:pPr>
            <a:endParaRPr lang="en-US" sz="3442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09998" y="3205620"/>
            <a:ext cx="6824861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313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Сохраняется контекст для разбора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10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61560"/>
            <a:ext cx="16832875" cy="1987200"/>
            <a:chOff x="0" y="0"/>
            <a:chExt cx="22443834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43839" cy="2649599"/>
            </a:xfrm>
            <a:custGeom>
              <a:avLst/>
              <a:gdLst/>
              <a:ahLst/>
              <a:cxnLst/>
              <a:rect l="l" t="t" r="r" b="b"/>
              <a:pathLst>
                <a:path w="22443839" h="2649599">
                  <a:moveTo>
                    <a:pt x="0" y="0"/>
                  </a:moveTo>
                  <a:lnTo>
                    <a:pt x="22443839" y="0"/>
                  </a:lnTo>
                  <a:lnTo>
                    <a:pt x="22443839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050" b="-1150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22443834" cy="259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4F86C6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Механизм повторной подачи в основной топик</a:t>
              </a:r>
            </a:p>
            <a:p>
              <a:pPr algn="l">
                <a:lnSpc>
                  <a:spcPts val="5832"/>
                </a:lnSpc>
              </a:pPr>
              <a:endParaRPr lang="en-US" sz="5400">
                <a:solidFill>
                  <a:srgbClr val="4F86C6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9678" y="1349997"/>
            <a:ext cx="9130322" cy="5237998"/>
            <a:chOff x="0" y="0"/>
            <a:chExt cx="12173763" cy="6983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73712" cy="6983984"/>
            </a:xfrm>
            <a:custGeom>
              <a:avLst/>
              <a:gdLst/>
              <a:ahLst/>
              <a:cxnLst/>
              <a:rect l="l" t="t" r="r" b="b"/>
              <a:pathLst>
                <a:path w="12173712" h="6983984">
                  <a:moveTo>
                    <a:pt x="0" y="0"/>
                  </a:moveTo>
                  <a:lnTo>
                    <a:pt x="12173712" y="0"/>
                  </a:lnTo>
                  <a:lnTo>
                    <a:pt x="12173712" y="6983984"/>
                  </a:lnTo>
                  <a:lnTo>
                    <a:pt x="0" y="698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" b="-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809998" y="2395623"/>
            <a:ext cx="737512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313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Отдельный процесс, не косьюмер api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09998" y="4527004"/>
            <a:ext cx="765000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Возможен запуск отдельно, по решению человека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09998" y="3205620"/>
            <a:ext cx="765000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Возможность пакетной обработки сообщений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0536" y="6933238"/>
            <a:ext cx="1385297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64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Механизм читает DLQ, вытаскивает данные транзакции и снова записывает ее в основной топик с нужным ключем, после чего подтвеждает offset.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11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223561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 ТЕСТИРОВАНИЕ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12</a:t>
                </a:r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0009982" y="2134561"/>
            <a:ext cx="6674155" cy="6960311"/>
            <a:chOff x="0" y="0"/>
            <a:chExt cx="8898873" cy="9280415"/>
          </a:xfrm>
        </p:grpSpPr>
        <p:sp>
          <p:nvSpPr>
            <p:cNvPr id="15" name="Freeform 15"/>
            <p:cNvSpPr/>
            <p:nvPr/>
          </p:nvSpPr>
          <p:spPr>
            <a:xfrm>
              <a:off x="0" y="949398"/>
              <a:ext cx="8898873" cy="4173461"/>
            </a:xfrm>
            <a:custGeom>
              <a:avLst/>
              <a:gdLst/>
              <a:ahLst/>
              <a:cxnLst/>
              <a:rect l="l" t="t" r="r" b="b"/>
              <a:pathLst>
                <a:path w="8898873" h="4173461">
                  <a:moveTo>
                    <a:pt x="0" y="0"/>
                  </a:moveTo>
                  <a:lnTo>
                    <a:pt x="8898873" y="0"/>
                  </a:lnTo>
                  <a:lnTo>
                    <a:pt x="8898873" y="4173462"/>
                  </a:lnTo>
                  <a:lnTo>
                    <a:pt x="0" y="4173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40" b="-64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3656" y="5064588"/>
              <a:ext cx="8895217" cy="4215827"/>
            </a:xfrm>
            <a:custGeom>
              <a:avLst/>
              <a:gdLst/>
              <a:ahLst/>
              <a:cxnLst/>
              <a:rect l="l" t="t" r="r" b="b"/>
              <a:pathLst>
                <a:path w="8895217" h="4215827">
                  <a:moveTo>
                    <a:pt x="0" y="0"/>
                  </a:moveTo>
                  <a:lnTo>
                    <a:pt x="8895217" y="0"/>
                  </a:lnTo>
                  <a:lnTo>
                    <a:pt x="8895217" y="4215827"/>
                  </a:lnTo>
                  <a:lnTo>
                    <a:pt x="0" y="421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993" r="-2674" b="-1993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8898873" cy="949398"/>
            </a:xfrm>
            <a:custGeom>
              <a:avLst/>
              <a:gdLst/>
              <a:ahLst/>
              <a:cxnLst/>
              <a:rect l="l" t="t" r="r" b="b"/>
              <a:pathLst>
                <a:path w="8898873" h="949398">
                  <a:moveTo>
                    <a:pt x="0" y="0"/>
                  </a:moveTo>
                  <a:lnTo>
                    <a:pt x="8898873" y="0"/>
                  </a:lnTo>
                  <a:lnTo>
                    <a:pt x="8898873" y="949398"/>
                  </a:lnTo>
                  <a:lnTo>
                    <a:pt x="0" y="949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18" r="-31119" b="-618"/>
              </a:stretch>
            </a:blipFill>
          </p:spPr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D7FBA17-670C-D98E-E77C-7C1355A866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9814" y="2134561"/>
            <a:ext cx="7942786" cy="69886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ЗАКЛЮЧЕНИЕ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31824" y="2634044"/>
            <a:ext cx="15606179" cy="40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Спроектирован и реализован сервис приёма, хранения и обработки финансовых транзакций. Решение объединяет HTTP API, </a:t>
            </a:r>
            <a:r>
              <a:rPr lang="ru-RU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PostgreSQL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и асинхронный </a:t>
            </a:r>
            <a:r>
              <a:rPr lang="ru-RU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Kafka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-контур. Для обеспечения надёжности и мониторинга реализованы дедупликация, DLQ, повторная обработка, метрики и дашборды </a:t>
            </a:r>
            <a:r>
              <a:rPr lang="ru-RU" sz="4200" dirty="0" err="1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Grafana</a:t>
            </a:r>
            <a:r>
              <a:rPr lang="ru-RU" sz="4200" dirty="0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.</a:t>
            </a:r>
            <a:endParaRPr lang="en-US" sz="42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4536"/>
              </a:lnSpc>
            </a:pPr>
            <a:endParaRPr lang="en-US" sz="4200" dirty="0">
              <a:solidFill>
                <a:srgbClr val="19415E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173381" y="0"/>
            <a:ext cx="4113724" cy="652653"/>
            <a:chOff x="0" y="0"/>
            <a:chExt cx="5484965" cy="8702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4960" cy="870207"/>
            </a:xfrm>
            <a:custGeom>
              <a:avLst/>
              <a:gdLst/>
              <a:ahLst/>
              <a:cxnLst/>
              <a:rect l="l" t="t" r="r" b="b"/>
              <a:pathLst>
                <a:path w="5484960" h="870207">
                  <a:moveTo>
                    <a:pt x="0" y="0"/>
                  </a:moveTo>
                  <a:lnTo>
                    <a:pt x="5484960" y="0"/>
                  </a:lnTo>
                  <a:lnTo>
                    <a:pt x="5484960" y="870207"/>
                  </a:lnTo>
                  <a:lnTo>
                    <a:pt x="0" y="870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949" b="-6468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484965" cy="870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19415E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15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13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ИСТОЧНИКИ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31824" y="2634044"/>
            <a:ext cx="15606179" cy="652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841" lvl="1" indent="-363420" algn="l">
              <a:lnSpc>
                <a:spcPts val="4337"/>
              </a:lnSpc>
              <a:buFont typeface="Arial"/>
              <a:buChar char="•"/>
            </a:pPr>
            <a:r>
              <a:rPr lang="en-US" sz="4016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Приемы объектно-оориентированного проектирования. –URL: https://stilsoft.ru/download/catalog/pdf/polnoe-opisanie-322323.pdf (дата обращения 13.04.2026)</a:t>
            </a:r>
          </a:p>
          <a:p>
            <a:pPr marL="726841" lvl="1" indent="-363420" algn="l">
              <a:lnSpc>
                <a:spcPts val="4337"/>
              </a:lnSpc>
              <a:buFont typeface="Arial"/>
              <a:buChar char="•"/>
            </a:pPr>
            <a:r>
              <a:rPr lang="en-US" sz="4016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Таненбаум Э. С., Бос Х. Современные операционные системы –URL: </a:t>
            </a:r>
            <a:r>
              <a:rPr lang="en-US" sz="4016" u="sng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http://lib.ysu.am/disciplines_bk/bc520563d6ed0e7c880969b3e0c9d9cf.pdf</a:t>
            </a:r>
            <a:r>
              <a:rPr lang="en-US" sz="4016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(дата обращения 12.04.2026).</a:t>
            </a:r>
          </a:p>
          <a:p>
            <a:pPr marL="726841" lvl="1" indent="-363420" algn="l">
              <a:lnSpc>
                <a:spcPts val="4337"/>
              </a:lnSpc>
              <a:buFont typeface="Arial"/>
              <a:buChar char="•"/>
            </a:pPr>
            <a:r>
              <a:rPr lang="en-US" sz="4016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Кормен Т. Х., Лейзерсон Ч. Э.,  Алгоритмы: построение и анализ  –URL: http://www.r-5.org/files/books/computers/algo-list/common/Cormen_Leiserson_Rivest_Stein-Introduction_to_Algorithms-RU.pdf</a:t>
            </a:r>
            <a:r>
              <a:rPr lang="en-US" sz="4016" u="sng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4016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(дата обращения 12.04.2026).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173381" y="0"/>
            <a:ext cx="4113724" cy="652653"/>
            <a:chOff x="0" y="0"/>
            <a:chExt cx="5484965" cy="8702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4960" cy="870207"/>
            </a:xfrm>
            <a:custGeom>
              <a:avLst/>
              <a:gdLst/>
              <a:ahLst/>
              <a:cxnLst/>
              <a:rect l="l" t="t" r="r" b="b"/>
              <a:pathLst>
                <a:path w="5484960" h="870207">
                  <a:moveTo>
                    <a:pt x="0" y="0"/>
                  </a:moveTo>
                  <a:lnTo>
                    <a:pt x="5484960" y="0"/>
                  </a:lnTo>
                  <a:lnTo>
                    <a:pt x="5484960" y="870207"/>
                  </a:lnTo>
                  <a:lnTo>
                    <a:pt x="0" y="870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949" b="-6468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484965" cy="8702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3E759D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14</a:t>
                </a: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4" y="157677"/>
            <a:ext cx="1173423" cy="1130760"/>
            <a:chOff x="0" y="0"/>
            <a:chExt cx="1564564" cy="150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513" cy="1507617"/>
            </a:xfrm>
            <a:custGeom>
              <a:avLst/>
              <a:gdLst/>
              <a:ahLst/>
              <a:cxnLst/>
              <a:rect l="l" t="t" r="r" b="b"/>
              <a:pathLst>
                <a:path w="1564513" h="1507617">
                  <a:moveTo>
                    <a:pt x="0" y="0"/>
                  </a:moveTo>
                  <a:lnTo>
                    <a:pt x="1564513" y="0"/>
                  </a:lnTo>
                  <a:lnTo>
                    <a:pt x="1564513" y="1507617"/>
                  </a:lnTo>
                  <a:lnTo>
                    <a:pt x="0" y="1507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" r="-48" b="-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5772324" cy="1987200"/>
            <a:chOff x="0" y="0"/>
            <a:chExt cx="21029765" cy="264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29760" cy="2649599"/>
            </a:xfrm>
            <a:custGeom>
              <a:avLst/>
              <a:gdLst/>
              <a:ahLst/>
              <a:cxnLst/>
              <a:rect l="l" t="t" r="r" b="b"/>
              <a:pathLst>
                <a:path w="21029760" h="2649599">
                  <a:moveTo>
                    <a:pt x="0" y="0"/>
                  </a:moveTo>
                  <a:lnTo>
                    <a:pt x="21029760" y="0"/>
                  </a:lnTo>
                  <a:lnTo>
                    <a:pt x="21029760" y="2649599"/>
                  </a:lnTo>
                  <a:lnTo>
                    <a:pt x="0" y="264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651" b="-10465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76200"/>
              <a:ext cx="21029765" cy="257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4F86C6"/>
                  </a:solidFill>
                  <a:latin typeface="IBM Plex Sans Thai Looped"/>
                  <a:ea typeface="IBM Plex Sans Thai Looped"/>
                  <a:cs typeface="IBM Plex Sans Thai Looped"/>
                  <a:sym typeface="IBM Plex Sans Thai Looped"/>
                </a:rPr>
                <a:t>QR-КОД РЕПОЗИТОРИЯ ПРОЕКТА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0002" y="2700004"/>
            <a:ext cx="5399456" cy="6074464"/>
            <a:chOff x="0" y="0"/>
            <a:chExt cx="7199274" cy="809928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7199249" cy="8099298"/>
            </a:xfrm>
            <a:custGeom>
              <a:avLst/>
              <a:gdLst/>
              <a:ahLst/>
              <a:cxnLst/>
              <a:rect l="l" t="t" r="r" b="b"/>
              <a:pathLst>
                <a:path w="7199249" h="8099298">
                  <a:moveTo>
                    <a:pt x="0" y="0"/>
                  </a:moveTo>
                  <a:lnTo>
                    <a:pt x="7199249" y="0"/>
                  </a:lnTo>
                  <a:lnTo>
                    <a:pt x="7199249" y="8099298"/>
                  </a:lnTo>
                  <a:lnTo>
                    <a:pt x="0" y="8099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387018" y="3148574"/>
            <a:ext cx="10072983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939">
                <a:solidFill>
                  <a:srgbClr val="1941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Ссылка с исходным кодом доступана по QR-коду. Отсканируйте камерой для доступа к хранилищу кода проекта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534782"/>
            <a:ext cx="18288000" cy="775983"/>
            <a:chOff x="0" y="0"/>
            <a:chExt cx="24384000" cy="103464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382806" cy="1034644"/>
              <a:chOff x="0" y="0"/>
              <a:chExt cx="24382806" cy="103464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382857" cy="1034669"/>
              </a:xfrm>
              <a:custGeom>
                <a:avLst/>
                <a:gdLst/>
                <a:ahLst/>
                <a:cxnLst/>
                <a:rect l="l" t="t" r="r" b="b"/>
                <a:pathLst>
                  <a:path w="24382857" h="1034669">
                    <a:moveTo>
                      <a:pt x="0" y="0"/>
                    </a:moveTo>
                    <a:lnTo>
                      <a:pt x="24382857" y="0"/>
                    </a:lnTo>
                    <a:lnTo>
                      <a:pt x="24382857" y="1034669"/>
                    </a:lnTo>
                    <a:lnTo>
                      <a:pt x="0" y="10346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EE3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81839" y="82220"/>
              <a:ext cx="24302161" cy="870204"/>
              <a:chOff x="0" y="0"/>
              <a:chExt cx="24302161" cy="87020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4302155" cy="870207"/>
              </a:xfrm>
              <a:custGeom>
                <a:avLst/>
                <a:gdLst/>
                <a:ahLst/>
                <a:cxnLst/>
                <a:rect l="l" t="t" r="r" b="b"/>
                <a:pathLst>
                  <a:path w="24302155" h="870207">
                    <a:moveTo>
                      <a:pt x="0" y="0"/>
                    </a:moveTo>
                    <a:lnTo>
                      <a:pt x="24302155" y="0"/>
                    </a:lnTo>
                    <a:lnTo>
                      <a:pt x="24302155" y="870207"/>
                    </a:lnTo>
                    <a:lnTo>
                      <a:pt x="0" y="87020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4096" r="-331" b="-487827"/>
                </a:stretch>
              </a:blip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0"/>
                <a:ext cx="24302161" cy="8702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9415E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15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658</Words>
  <Application>Microsoft Office PowerPoint</Application>
  <PresentationFormat>Произвольный</PresentationFormat>
  <Paragraphs>85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Calibri</vt:lpstr>
      <vt:lpstr>IBM Plex Sans Thai Looped</vt:lpstr>
      <vt:lpstr>Arial</vt:lpstr>
      <vt:lpstr>Atkinson Hyperlegible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презентация.pptx</dc:title>
  <cp:lastModifiedBy>Михаил Пирязев</cp:lastModifiedBy>
  <cp:revision>5</cp:revision>
  <dcterms:created xsi:type="dcterms:W3CDTF">2006-08-16T00:00:00Z</dcterms:created>
  <dcterms:modified xsi:type="dcterms:W3CDTF">2026-05-16T07:44:45Z</dcterms:modified>
  <dc:identifier>DAHJWoq_YsY</dc:identifier>
</cp:coreProperties>
</file>