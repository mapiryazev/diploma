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8288000" cy="10287000"/>
  <p:notesSz cx="6858000" cy="9144000"/>
  <p:embeddedFontLst>
    <p:embeddedFont>
      <p:font typeface="Atkinson Hyperlegible" panose="020B0604020202020204" charset="0"/>
      <p:regular r:id="rId18"/>
    </p:embeddedFont>
    <p:embeddedFont>
      <p:font typeface="IBM Plex Sans Thai Looped" panose="020B0604020202020204" charset="-34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61" d="100"/>
          <a:sy n="61" d="100"/>
        </p:scale>
        <p:origin x="104" y="2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1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0484" y="157677"/>
            <a:ext cx="1173423" cy="1130760"/>
            <a:chOff x="0" y="0"/>
            <a:chExt cx="1564564" cy="15076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564513" cy="1507617"/>
            </a:xfrm>
            <a:custGeom>
              <a:avLst/>
              <a:gdLst/>
              <a:ahLst/>
              <a:cxnLst/>
              <a:rect l="l" t="t" r="r" b="b"/>
              <a:pathLst>
                <a:path w="1564513" h="1507617">
                  <a:moveTo>
                    <a:pt x="0" y="0"/>
                  </a:moveTo>
                  <a:lnTo>
                    <a:pt x="1564513" y="0"/>
                  </a:lnTo>
                  <a:lnTo>
                    <a:pt x="1564513" y="1507617"/>
                  </a:lnTo>
                  <a:lnTo>
                    <a:pt x="0" y="15076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45" r="-48" b="-4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1968530" y="3145033"/>
            <a:ext cx="15065227" cy="3248180"/>
            <a:chOff x="0" y="0"/>
            <a:chExt cx="20086970" cy="433090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0086971" cy="4330912"/>
            </a:xfrm>
            <a:custGeom>
              <a:avLst/>
              <a:gdLst/>
              <a:ahLst/>
              <a:cxnLst/>
              <a:rect l="l" t="t" r="r" b="b"/>
              <a:pathLst>
                <a:path w="20086971" h="4330912">
                  <a:moveTo>
                    <a:pt x="0" y="0"/>
                  </a:moveTo>
                  <a:lnTo>
                    <a:pt x="20086971" y="0"/>
                  </a:lnTo>
                  <a:lnTo>
                    <a:pt x="20086971" y="4330912"/>
                  </a:lnTo>
                  <a:lnTo>
                    <a:pt x="0" y="4330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0000" r="3063" b="-55208"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0" y="47625"/>
              <a:ext cx="20086970" cy="4283282"/>
            </a:xfrm>
            <a:prstGeom prst="rect">
              <a:avLst/>
            </a:prstGeom>
          </p:spPr>
          <p:txBody>
            <a:bodyPr lIns="0" tIns="0" rIns="0" bIns="0" rtlCol="0" anchor="b"/>
            <a:lstStyle/>
            <a:p>
              <a:pPr algn="ctr">
                <a:lnSpc>
                  <a:spcPts val="4536"/>
                </a:lnSpc>
              </a:pPr>
              <a:r>
                <a:rPr lang="en-US" sz="4000" dirty="0">
                  <a:solidFill>
                    <a:srgbClr val="4F86C6"/>
                  </a:solidFill>
                  <a:latin typeface="IBM Plex Sans Thai Looped"/>
                  <a:ea typeface="IBM Plex Sans Thai Looped"/>
                  <a:cs typeface="IBM Plex Sans Thai Looped"/>
                  <a:sym typeface="IBM Plex Sans Thai Looped"/>
                </a:rPr>
                <a:t>ВЫПУСКНАЯ КВАЛИФИКАЦИОННАЯ РАБОТА БАКАЛАВРА</a:t>
              </a:r>
            </a:p>
            <a:p>
              <a:pPr algn="ctr">
                <a:lnSpc>
                  <a:spcPts val="4536"/>
                </a:lnSpc>
              </a:pPr>
              <a:r>
                <a:rPr lang="en-US" sz="4000" dirty="0">
                  <a:solidFill>
                    <a:srgbClr val="4F86C6"/>
                  </a:solidFill>
                  <a:latin typeface="IBM Plex Sans Thai Looped"/>
                  <a:ea typeface="IBM Plex Sans Thai Looped"/>
                  <a:cs typeface="IBM Plex Sans Thai Looped"/>
                  <a:sym typeface="IBM Plex Sans Thai Looped"/>
                </a:rPr>
                <a:t>НА ТЕМУ</a:t>
              </a:r>
              <a:r>
                <a:rPr lang="en-US" sz="4200" dirty="0">
                  <a:solidFill>
                    <a:srgbClr val="4F86C6"/>
                  </a:solidFill>
                  <a:latin typeface="IBM Plex Sans Thai Looped"/>
                  <a:ea typeface="IBM Plex Sans Thai Looped"/>
                  <a:cs typeface="IBM Plex Sans Thai Looped"/>
                  <a:sym typeface="IBM Plex Sans Thai Looped"/>
                </a:rPr>
                <a:t>:</a:t>
              </a:r>
            </a:p>
            <a:p>
              <a:pPr algn="ctr">
                <a:lnSpc>
                  <a:spcPts val="4374"/>
                </a:lnSpc>
              </a:pPr>
              <a:r>
                <a:rPr lang="en-US" sz="4050" dirty="0">
                  <a:solidFill>
                    <a:srgbClr val="4F86C6"/>
                  </a:solidFill>
                  <a:latin typeface="IBM Plex Sans Thai Looped"/>
                  <a:ea typeface="IBM Plex Sans Thai Looped"/>
                  <a:cs typeface="IBM Plex Sans Thai Looped"/>
                  <a:sym typeface="IBM Plex Sans Thai Looped"/>
                </a:rPr>
                <a:t>«</a:t>
              </a:r>
              <a:r>
                <a:rPr lang="ru-RU" sz="4050" dirty="0">
                  <a:solidFill>
                    <a:srgbClr val="4F86C6"/>
                  </a:solidFill>
                  <a:latin typeface="IBM Plex Sans Thai Looped"/>
                  <a:ea typeface="IBM Plex Sans Thai Looped"/>
                  <a:cs typeface="IBM Plex Sans Thai Looped"/>
                  <a:sym typeface="IBM Plex Sans Thai Looped"/>
                </a:rPr>
                <a:t>ПРОЕКТИРОВАНИЕ МИКРОСЕРВИСНОЙ СИСТЕМЫ ПОТОКОВОЙ ОБРАБОТКИ ФИНАНСОВЫХ ТРАНЗАКЦИЙ</a:t>
              </a:r>
              <a:r>
                <a:rPr lang="en-US" sz="4050" dirty="0">
                  <a:solidFill>
                    <a:srgbClr val="4F86C6"/>
                  </a:solidFill>
                  <a:latin typeface="IBM Plex Sans Thai Looped"/>
                  <a:ea typeface="IBM Plex Sans Thai Looped"/>
                  <a:cs typeface="IBM Plex Sans Thai Looped"/>
                  <a:sym typeface="IBM Plex Sans Thai Looped"/>
                </a:rPr>
                <a:t>»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233907" y="7313219"/>
            <a:ext cx="15799851" cy="2872800"/>
            <a:chOff x="0" y="0"/>
            <a:chExt cx="21066468" cy="38304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066474" cy="3830404"/>
            </a:xfrm>
            <a:custGeom>
              <a:avLst/>
              <a:gdLst/>
              <a:ahLst/>
              <a:cxnLst/>
              <a:rect l="l" t="t" r="r" b="b"/>
              <a:pathLst>
                <a:path w="21066474" h="3830404">
                  <a:moveTo>
                    <a:pt x="0" y="0"/>
                  </a:moveTo>
                  <a:lnTo>
                    <a:pt x="21066474" y="0"/>
                  </a:lnTo>
                  <a:lnTo>
                    <a:pt x="21066474" y="3830404"/>
                  </a:lnTo>
                  <a:lnTo>
                    <a:pt x="0" y="38304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1790" r="5013" b="-51790"/>
              </a:stretch>
            </a:blipFill>
          </p:spPr>
        </p:sp>
        <p:sp>
          <p:nvSpPr>
            <p:cNvPr id="9" name="TextBox 9"/>
            <p:cNvSpPr txBox="1"/>
            <p:nvPr/>
          </p:nvSpPr>
          <p:spPr>
            <a:xfrm>
              <a:off x="0" y="28575"/>
              <a:ext cx="21066468" cy="38018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024"/>
                </a:lnSpc>
              </a:pPr>
              <a:r>
                <a:rPr lang="en-US" sz="2800" dirty="0" err="1">
                  <a:solidFill>
                    <a:srgbClr val="19415E"/>
                  </a:solidFill>
                  <a:latin typeface="Atkinson Hyperlegible"/>
                  <a:ea typeface="Atkinson Hyperlegible"/>
                  <a:cs typeface="Atkinson Hyperlegible"/>
                  <a:sym typeface="Atkinson Hyperlegible"/>
                </a:rPr>
                <a:t>Студент</a:t>
              </a:r>
              <a:r>
                <a:rPr lang="en-US" sz="2800" dirty="0">
                  <a:solidFill>
                    <a:srgbClr val="19415E"/>
                  </a:solidFill>
                  <a:latin typeface="Atkinson Hyperlegible"/>
                  <a:ea typeface="Atkinson Hyperlegible"/>
                  <a:cs typeface="Atkinson Hyperlegible"/>
                  <a:sym typeface="Atkinson Hyperlegible"/>
                </a:rPr>
                <a:t> </a:t>
              </a:r>
              <a:r>
                <a:rPr lang="en-US" sz="2800" dirty="0" err="1">
                  <a:solidFill>
                    <a:srgbClr val="19415E"/>
                  </a:solidFill>
                  <a:latin typeface="Atkinson Hyperlegible"/>
                  <a:ea typeface="Atkinson Hyperlegible"/>
                  <a:cs typeface="Atkinson Hyperlegible"/>
                  <a:sym typeface="Atkinson Hyperlegible"/>
                </a:rPr>
                <a:t>группы</a:t>
              </a:r>
              <a:r>
                <a:rPr lang="en-US" sz="2800" dirty="0">
                  <a:solidFill>
                    <a:srgbClr val="19415E"/>
                  </a:solidFill>
                  <a:latin typeface="Atkinson Hyperlegible"/>
                  <a:ea typeface="Atkinson Hyperlegible"/>
                  <a:cs typeface="Atkinson Hyperlegible"/>
                  <a:sym typeface="Atkinson Hyperlegible"/>
                </a:rPr>
                <a:t> МО-407Б-22: Пирязев Михаил </a:t>
              </a:r>
              <a:r>
                <a:rPr lang="en-US" sz="2800" dirty="0" err="1">
                  <a:solidFill>
                    <a:srgbClr val="19415E"/>
                  </a:solidFill>
                  <a:latin typeface="Atkinson Hyperlegible"/>
                  <a:ea typeface="Atkinson Hyperlegible"/>
                  <a:cs typeface="Atkinson Hyperlegible"/>
                  <a:sym typeface="Atkinson Hyperlegible"/>
                </a:rPr>
                <a:t>Александрович</a:t>
              </a:r>
              <a:endParaRPr lang="en-US" sz="2800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endParaRPr>
            </a:p>
            <a:p>
              <a:pPr algn="l">
                <a:lnSpc>
                  <a:spcPts val="3024"/>
                </a:lnSpc>
              </a:pPr>
              <a:r>
                <a:rPr lang="en-US" sz="2800" dirty="0" err="1">
                  <a:solidFill>
                    <a:srgbClr val="19415E"/>
                  </a:solidFill>
                  <a:latin typeface="Atkinson Hyperlegible"/>
                  <a:ea typeface="Atkinson Hyperlegible"/>
                  <a:cs typeface="Atkinson Hyperlegible"/>
                  <a:sym typeface="Atkinson Hyperlegible"/>
                </a:rPr>
                <a:t>Научный</a:t>
              </a:r>
              <a:r>
                <a:rPr lang="en-US" sz="2800" dirty="0">
                  <a:solidFill>
                    <a:srgbClr val="19415E"/>
                  </a:solidFill>
                  <a:latin typeface="Atkinson Hyperlegible"/>
                  <a:ea typeface="Atkinson Hyperlegible"/>
                  <a:cs typeface="Atkinson Hyperlegible"/>
                  <a:sym typeface="Atkinson Hyperlegible"/>
                </a:rPr>
                <a:t> </a:t>
              </a:r>
              <a:r>
                <a:rPr lang="en-US" sz="2800" dirty="0" err="1">
                  <a:solidFill>
                    <a:srgbClr val="19415E"/>
                  </a:solidFill>
                  <a:latin typeface="Atkinson Hyperlegible"/>
                  <a:ea typeface="Atkinson Hyperlegible"/>
                  <a:cs typeface="Atkinson Hyperlegible"/>
                  <a:sym typeface="Atkinson Hyperlegible"/>
                </a:rPr>
                <a:t>руководитель</a:t>
              </a:r>
              <a:r>
                <a:rPr lang="en-US" sz="2800" dirty="0">
                  <a:solidFill>
                    <a:srgbClr val="19415E"/>
                  </a:solidFill>
                  <a:latin typeface="Atkinson Hyperlegible"/>
                  <a:ea typeface="Atkinson Hyperlegible"/>
                  <a:cs typeface="Atkinson Hyperlegible"/>
                  <a:sym typeface="Atkinson Hyperlegible"/>
                </a:rPr>
                <a:t>: </a:t>
              </a:r>
              <a:r>
                <a:rPr lang="en-US" sz="2800" dirty="0" err="1">
                  <a:solidFill>
                    <a:srgbClr val="19415E"/>
                  </a:solidFill>
                  <a:latin typeface="Atkinson Hyperlegible"/>
                  <a:ea typeface="Atkinson Hyperlegible"/>
                  <a:cs typeface="Atkinson Hyperlegible"/>
                  <a:sym typeface="Atkinson Hyperlegible"/>
                </a:rPr>
                <a:t>кандидат</a:t>
              </a:r>
              <a:r>
                <a:rPr lang="en-US" sz="2800" dirty="0">
                  <a:solidFill>
                    <a:srgbClr val="19415E"/>
                  </a:solidFill>
                  <a:latin typeface="Atkinson Hyperlegible"/>
                  <a:ea typeface="Atkinson Hyperlegible"/>
                  <a:cs typeface="Atkinson Hyperlegible"/>
                  <a:sym typeface="Atkinson Hyperlegible"/>
                </a:rPr>
                <a:t> </a:t>
              </a:r>
              <a:r>
                <a:rPr lang="en-US" sz="2800" dirty="0" err="1">
                  <a:solidFill>
                    <a:srgbClr val="19415E"/>
                  </a:solidFill>
                  <a:latin typeface="Atkinson Hyperlegible"/>
                  <a:ea typeface="Atkinson Hyperlegible"/>
                  <a:cs typeface="Atkinson Hyperlegible"/>
                  <a:sym typeface="Atkinson Hyperlegible"/>
                </a:rPr>
                <a:t>физико-математических</a:t>
              </a:r>
              <a:r>
                <a:rPr lang="en-US" sz="2800" dirty="0">
                  <a:solidFill>
                    <a:srgbClr val="19415E"/>
                  </a:solidFill>
                  <a:latin typeface="Atkinson Hyperlegible"/>
                  <a:ea typeface="Atkinson Hyperlegible"/>
                  <a:cs typeface="Atkinson Hyperlegible"/>
                  <a:sym typeface="Atkinson Hyperlegible"/>
                </a:rPr>
                <a:t> </a:t>
              </a:r>
              <a:r>
                <a:rPr lang="en-US" sz="2800" dirty="0" err="1">
                  <a:solidFill>
                    <a:srgbClr val="19415E"/>
                  </a:solidFill>
                  <a:latin typeface="Atkinson Hyperlegible"/>
                  <a:ea typeface="Atkinson Hyperlegible"/>
                  <a:cs typeface="Atkinson Hyperlegible"/>
                  <a:sym typeface="Atkinson Hyperlegible"/>
                </a:rPr>
                <a:t>наук</a:t>
              </a:r>
              <a:r>
                <a:rPr lang="en-US" sz="2800" dirty="0">
                  <a:solidFill>
                    <a:srgbClr val="19415E"/>
                  </a:solidFill>
                  <a:latin typeface="Atkinson Hyperlegible"/>
                  <a:ea typeface="Atkinson Hyperlegible"/>
                  <a:cs typeface="Atkinson Hyperlegible"/>
                  <a:sym typeface="Atkinson Hyperlegible"/>
                </a:rPr>
                <a:t>, </a:t>
              </a:r>
              <a:r>
                <a:rPr lang="en-US" sz="2800" dirty="0" err="1">
                  <a:solidFill>
                    <a:srgbClr val="19415E"/>
                  </a:solidFill>
                  <a:latin typeface="Atkinson Hyperlegible"/>
                  <a:ea typeface="Atkinson Hyperlegible"/>
                  <a:cs typeface="Atkinson Hyperlegible"/>
                  <a:sym typeface="Atkinson Hyperlegible"/>
                </a:rPr>
                <a:t>доцент</a:t>
              </a:r>
              <a:r>
                <a:rPr lang="en-US" sz="2800" dirty="0">
                  <a:solidFill>
                    <a:srgbClr val="19415E"/>
                  </a:solidFill>
                  <a:latin typeface="Atkinson Hyperlegible"/>
                  <a:ea typeface="Atkinson Hyperlegible"/>
                  <a:cs typeface="Atkinson Hyperlegible"/>
                  <a:sym typeface="Atkinson Hyperlegible"/>
                </a:rPr>
                <a:t>, </a:t>
              </a:r>
              <a:r>
                <a:rPr lang="en-US" sz="2800" dirty="0" err="1">
                  <a:solidFill>
                    <a:srgbClr val="19415E"/>
                  </a:solidFill>
                  <a:latin typeface="Atkinson Hyperlegible"/>
                  <a:ea typeface="Atkinson Hyperlegible"/>
                  <a:cs typeface="Atkinson Hyperlegible"/>
                  <a:sym typeface="Atkinson Hyperlegible"/>
                </a:rPr>
                <a:t>доцент</a:t>
              </a:r>
              <a:r>
                <a:rPr lang="en-US" sz="2800" dirty="0">
                  <a:solidFill>
                    <a:srgbClr val="19415E"/>
                  </a:solidFill>
                  <a:latin typeface="Atkinson Hyperlegible"/>
                  <a:ea typeface="Atkinson Hyperlegible"/>
                  <a:cs typeface="Atkinson Hyperlegible"/>
                  <a:sym typeface="Atkinson Hyperlegible"/>
                </a:rPr>
                <a:t> 806 </a:t>
              </a:r>
              <a:r>
                <a:rPr lang="en-US" sz="2800" dirty="0" err="1">
                  <a:solidFill>
                    <a:srgbClr val="19415E"/>
                  </a:solidFill>
                  <a:latin typeface="Atkinson Hyperlegible"/>
                  <a:ea typeface="Atkinson Hyperlegible"/>
                  <a:cs typeface="Atkinson Hyperlegible"/>
                  <a:sym typeface="Atkinson Hyperlegible"/>
                </a:rPr>
                <a:t>кафедры</a:t>
              </a:r>
              <a:r>
                <a:rPr lang="en-US" sz="2800" dirty="0">
                  <a:solidFill>
                    <a:srgbClr val="19415E"/>
                  </a:solidFill>
                  <a:latin typeface="Atkinson Hyperlegible"/>
                  <a:ea typeface="Atkinson Hyperlegible"/>
                  <a:cs typeface="Atkinson Hyperlegible"/>
                  <a:sym typeface="Atkinson Hyperlegible"/>
                </a:rPr>
                <a:t> МАИ С.В. </a:t>
              </a:r>
              <a:r>
                <a:rPr lang="en-US" sz="2800" dirty="0" err="1">
                  <a:solidFill>
                    <a:srgbClr val="19415E"/>
                  </a:solidFill>
                  <a:latin typeface="Atkinson Hyperlegible"/>
                  <a:ea typeface="Atkinson Hyperlegible"/>
                  <a:cs typeface="Atkinson Hyperlegible"/>
                  <a:sym typeface="Atkinson Hyperlegible"/>
                </a:rPr>
                <a:t>Кузнецова</a:t>
              </a:r>
              <a:r>
                <a:rPr lang="en-US" sz="2800" dirty="0">
                  <a:solidFill>
                    <a:srgbClr val="19415E"/>
                  </a:solidFill>
                  <a:latin typeface="Atkinson Hyperlegible"/>
                  <a:ea typeface="Atkinson Hyperlegible"/>
                  <a:cs typeface="Atkinson Hyperlegible"/>
                  <a:sym typeface="Atkinson Hyperlegible"/>
                </a:rPr>
                <a:t> </a:t>
              </a:r>
            </a:p>
            <a:p>
              <a:pPr algn="l">
                <a:lnSpc>
                  <a:spcPts val="3240"/>
                </a:lnSpc>
              </a:pPr>
              <a:endParaRPr lang="en-US" sz="2800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endParaRPr>
            </a:p>
            <a:p>
              <a:pPr algn="ctr">
                <a:lnSpc>
                  <a:spcPts val="3240"/>
                </a:lnSpc>
              </a:pPr>
              <a:r>
                <a:rPr lang="en-US" sz="3000" dirty="0" err="1">
                  <a:solidFill>
                    <a:srgbClr val="19415E"/>
                  </a:solidFill>
                  <a:latin typeface="Atkinson Hyperlegible"/>
                  <a:ea typeface="Atkinson Hyperlegible"/>
                  <a:cs typeface="Atkinson Hyperlegible"/>
                  <a:sym typeface="Atkinson Hyperlegible"/>
                </a:rPr>
                <a:t>Москва</a:t>
              </a:r>
              <a:r>
                <a:rPr lang="en-US" sz="3000" dirty="0">
                  <a:solidFill>
                    <a:srgbClr val="19415E"/>
                  </a:solidFill>
                  <a:latin typeface="Atkinson Hyperlegible"/>
                  <a:ea typeface="Atkinson Hyperlegible"/>
                  <a:cs typeface="Atkinson Hyperlegible"/>
                  <a:sym typeface="Atkinson Hyperlegible"/>
                </a:rPr>
                <a:t> – 2026</a:t>
              </a:r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2354761" y="437293"/>
            <a:ext cx="14463722" cy="21846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6"/>
              </a:lnSpc>
            </a:pPr>
            <a:r>
              <a:rPr lang="en-US" sz="2700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Московский</a:t>
            </a:r>
            <a:r>
              <a:rPr lang="en-US" sz="2700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2700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авиационный</a:t>
            </a:r>
            <a:r>
              <a:rPr lang="en-US" sz="2700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2700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институт</a:t>
            </a:r>
            <a:r>
              <a:rPr lang="en-US" sz="2700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(</a:t>
            </a:r>
            <a:r>
              <a:rPr lang="en-US" sz="2700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национальный</a:t>
            </a:r>
            <a:r>
              <a:rPr lang="en-US" sz="2700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2700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исследовательский</a:t>
            </a:r>
            <a:r>
              <a:rPr lang="en-US" sz="2700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2700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университет</a:t>
            </a:r>
            <a:r>
              <a:rPr lang="en-US" sz="2700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)</a:t>
            </a:r>
          </a:p>
          <a:p>
            <a:pPr algn="ctr">
              <a:lnSpc>
                <a:spcPts val="2940"/>
              </a:lnSpc>
            </a:pPr>
            <a:endParaRPr lang="en-US" sz="2700" dirty="0">
              <a:solidFill>
                <a:srgbClr val="19415E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algn="ctr">
              <a:lnSpc>
                <a:spcPts val="2940"/>
              </a:lnSpc>
            </a:pPr>
            <a:r>
              <a:rPr lang="en-US" sz="3000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Институт</a:t>
            </a:r>
            <a:r>
              <a:rPr lang="en-US" sz="3000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№ 8 «</a:t>
            </a:r>
            <a:r>
              <a:rPr lang="en-US" sz="3000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Компьютерные</a:t>
            </a:r>
            <a:r>
              <a:rPr lang="en-US" sz="3000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3000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науки</a:t>
            </a:r>
            <a:r>
              <a:rPr lang="en-US" sz="3000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и </a:t>
            </a:r>
            <a:r>
              <a:rPr lang="en-US" sz="3000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прикладная</a:t>
            </a:r>
            <a:r>
              <a:rPr lang="en-US" sz="3000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3000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математика</a:t>
            </a:r>
            <a:r>
              <a:rPr lang="en-US" sz="3000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»</a:t>
            </a:r>
          </a:p>
          <a:p>
            <a:pPr algn="ctr">
              <a:lnSpc>
                <a:spcPts val="2940"/>
              </a:lnSpc>
            </a:pPr>
            <a:endParaRPr lang="en-US" sz="3000" dirty="0">
              <a:solidFill>
                <a:srgbClr val="19415E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algn="ctr">
              <a:lnSpc>
                <a:spcPts val="2940"/>
              </a:lnSpc>
            </a:pPr>
            <a:r>
              <a:rPr lang="en-US" sz="3000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Кафедра</a:t>
            </a:r>
            <a:r>
              <a:rPr lang="en-US" sz="3000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№ 806 «</a:t>
            </a:r>
            <a:r>
              <a:rPr lang="en-US" sz="3000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Вычислительная</a:t>
            </a:r>
            <a:r>
              <a:rPr lang="en-US" sz="3000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3000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математика</a:t>
            </a:r>
            <a:r>
              <a:rPr lang="en-US" sz="3000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и </a:t>
            </a:r>
            <a:r>
              <a:rPr lang="en-US" sz="3000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программирование</a:t>
            </a:r>
            <a:r>
              <a:rPr lang="en-US" sz="3000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»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1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0484" y="157677"/>
            <a:ext cx="1173423" cy="1130760"/>
            <a:chOff x="0" y="0"/>
            <a:chExt cx="1564564" cy="15076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564513" cy="1507617"/>
            </a:xfrm>
            <a:custGeom>
              <a:avLst/>
              <a:gdLst/>
              <a:ahLst/>
              <a:cxnLst/>
              <a:rect l="l" t="t" r="r" b="b"/>
              <a:pathLst>
                <a:path w="1564513" h="1507617">
                  <a:moveTo>
                    <a:pt x="0" y="0"/>
                  </a:moveTo>
                  <a:lnTo>
                    <a:pt x="1564513" y="0"/>
                  </a:lnTo>
                  <a:lnTo>
                    <a:pt x="1564513" y="1507617"/>
                  </a:lnTo>
                  <a:lnTo>
                    <a:pt x="0" y="15076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45" r="-48" b="-4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1257119" y="547564"/>
            <a:ext cx="15772324" cy="1987200"/>
            <a:chOff x="0" y="0"/>
            <a:chExt cx="21029765" cy="26496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029760" cy="2649599"/>
            </a:xfrm>
            <a:custGeom>
              <a:avLst/>
              <a:gdLst/>
              <a:ahLst/>
              <a:cxnLst/>
              <a:rect l="l" t="t" r="r" b="b"/>
              <a:pathLst>
                <a:path w="21029760" h="2649599">
                  <a:moveTo>
                    <a:pt x="0" y="0"/>
                  </a:moveTo>
                  <a:lnTo>
                    <a:pt x="21029760" y="0"/>
                  </a:lnTo>
                  <a:lnTo>
                    <a:pt x="21029760" y="2649599"/>
                  </a:lnTo>
                  <a:lnTo>
                    <a:pt x="0" y="264959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4651" b="-104652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76200"/>
              <a:ext cx="21029765" cy="2573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480"/>
                </a:lnSpc>
              </a:pPr>
              <a:r>
                <a:rPr lang="en-US" sz="6000" dirty="0">
                  <a:solidFill>
                    <a:srgbClr val="4F86C6"/>
                  </a:solidFill>
                  <a:latin typeface="IBM Plex Sans Thai Looped"/>
                  <a:ea typeface="IBM Plex Sans Thai Looped"/>
                  <a:cs typeface="IBM Plex Sans Thai Looped"/>
                  <a:sym typeface="IBM Plex Sans Thai Looped"/>
                </a:rPr>
                <a:t>АКТУАЛЬНОСТЬ ТЕМЫ</a:t>
              </a:r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348559" y="2784062"/>
            <a:ext cx="15589444" cy="3847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ru-RU" sz="4200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Рост количества безналичных платежей и усложнение их жизненного цикла требуют оперативной и достоверной фиксации операций. Асинхронная обработка, задержки, повторы и неупорядоченность событий усложняют их учёт и мониторинг. Это повышает требования к надежности систем и меняет к средствам их контроля.</a:t>
            </a:r>
            <a:endParaRPr lang="en-US" sz="4200" dirty="0">
              <a:solidFill>
                <a:srgbClr val="19415E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grpSp>
        <p:nvGrpSpPr>
          <p:cNvPr id="8" name="Group 8"/>
          <p:cNvGrpSpPr/>
          <p:nvPr/>
        </p:nvGrpSpPr>
        <p:grpSpPr>
          <a:xfrm>
            <a:off x="0" y="9534782"/>
            <a:ext cx="18288000" cy="775983"/>
            <a:chOff x="0" y="0"/>
            <a:chExt cx="24384000" cy="1034644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0"/>
              <a:ext cx="24382806" cy="1034644"/>
              <a:chOff x="0" y="0"/>
              <a:chExt cx="24382806" cy="1034644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24382857" cy="1034669"/>
              </a:xfrm>
              <a:custGeom>
                <a:avLst/>
                <a:gdLst/>
                <a:ahLst/>
                <a:cxnLst/>
                <a:rect l="l" t="t" r="r" b="b"/>
                <a:pathLst>
                  <a:path w="24382857" h="1034669">
                    <a:moveTo>
                      <a:pt x="0" y="0"/>
                    </a:moveTo>
                    <a:lnTo>
                      <a:pt x="24382857" y="0"/>
                    </a:lnTo>
                    <a:lnTo>
                      <a:pt x="24382857" y="1034669"/>
                    </a:lnTo>
                    <a:lnTo>
                      <a:pt x="0" y="103466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7DEE3"/>
              </a:solidFill>
            </p:spPr>
          </p:sp>
        </p:grpSp>
        <p:grpSp>
          <p:nvGrpSpPr>
            <p:cNvPr id="11" name="Group 11"/>
            <p:cNvGrpSpPr/>
            <p:nvPr/>
          </p:nvGrpSpPr>
          <p:grpSpPr>
            <a:xfrm>
              <a:off x="81839" y="82220"/>
              <a:ext cx="24302161" cy="870204"/>
              <a:chOff x="0" y="0"/>
              <a:chExt cx="24302161" cy="87020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24302155" cy="870207"/>
              </a:xfrm>
              <a:custGeom>
                <a:avLst/>
                <a:gdLst/>
                <a:ahLst/>
                <a:cxnLst/>
                <a:rect l="l" t="t" r="r" b="b"/>
                <a:pathLst>
                  <a:path w="24302155" h="870207">
                    <a:moveTo>
                      <a:pt x="0" y="0"/>
                    </a:moveTo>
                    <a:lnTo>
                      <a:pt x="24302155" y="0"/>
                    </a:lnTo>
                    <a:lnTo>
                      <a:pt x="24302155" y="870207"/>
                    </a:lnTo>
                    <a:lnTo>
                      <a:pt x="0" y="870207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504096" r="-331" b="-487827"/>
                </a:stretch>
              </a:blipFill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24302161" cy="87020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4320"/>
                  </a:lnSpc>
                </a:pPr>
                <a:r>
                  <a:rPr lang="en-US" sz="3600">
                    <a:solidFill>
                      <a:srgbClr val="19415E"/>
                    </a:solidFill>
                    <a:latin typeface="Atkinson Hyperlegible"/>
                    <a:ea typeface="Atkinson Hyperlegible"/>
                    <a:cs typeface="Atkinson Hyperlegible"/>
                    <a:sym typeface="Atkinson Hyperlegible"/>
                  </a:rPr>
                  <a:t>1</a:t>
                </a:r>
              </a:p>
            </p:txBody>
          </p:sp>
        </p:grpSp>
      </p:grp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1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0484" y="157677"/>
            <a:ext cx="1173423" cy="1130760"/>
            <a:chOff x="0" y="0"/>
            <a:chExt cx="1564564" cy="15076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564513" cy="1507617"/>
            </a:xfrm>
            <a:custGeom>
              <a:avLst/>
              <a:gdLst/>
              <a:ahLst/>
              <a:cxnLst/>
              <a:rect l="l" t="t" r="r" b="b"/>
              <a:pathLst>
                <a:path w="1564513" h="1507617">
                  <a:moveTo>
                    <a:pt x="0" y="0"/>
                  </a:moveTo>
                  <a:lnTo>
                    <a:pt x="1564513" y="0"/>
                  </a:lnTo>
                  <a:lnTo>
                    <a:pt x="1564513" y="1507617"/>
                  </a:lnTo>
                  <a:lnTo>
                    <a:pt x="0" y="15076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45" r="-48" b="-4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1257119" y="547564"/>
            <a:ext cx="15772324" cy="1987200"/>
            <a:chOff x="0" y="0"/>
            <a:chExt cx="21029765" cy="26496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029760" cy="2649599"/>
            </a:xfrm>
            <a:custGeom>
              <a:avLst/>
              <a:gdLst/>
              <a:ahLst/>
              <a:cxnLst/>
              <a:rect l="l" t="t" r="r" b="b"/>
              <a:pathLst>
                <a:path w="21029760" h="2649599">
                  <a:moveTo>
                    <a:pt x="0" y="0"/>
                  </a:moveTo>
                  <a:lnTo>
                    <a:pt x="21029760" y="0"/>
                  </a:lnTo>
                  <a:lnTo>
                    <a:pt x="21029760" y="2649599"/>
                  </a:lnTo>
                  <a:lnTo>
                    <a:pt x="0" y="264959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4651" b="-104652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76200"/>
              <a:ext cx="21029765" cy="2573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480"/>
                </a:lnSpc>
              </a:pPr>
              <a:r>
                <a:rPr lang="en-US" sz="6000">
                  <a:solidFill>
                    <a:srgbClr val="4F86C6"/>
                  </a:solidFill>
                  <a:latin typeface="IBM Plex Sans Thai Looped"/>
                  <a:ea typeface="IBM Plex Sans Thai Looped"/>
                  <a:cs typeface="IBM Plex Sans Thai Looped"/>
                  <a:sym typeface="IBM Plex Sans Thai Looped"/>
                </a:rPr>
                <a:t>ЦЕЛЬ И ЗАДАЧИ РАБОТЫ</a:t>
              </a:r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257119" y="2414340"/>
            <a:ext cx="16292341" cy="54077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61"/>
              </a:lnSpc>
            </a:pPr>
            <a:r>
              <a:rPr lang="en-US" sz="3884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Цель</a:t>
            </a:r>
            <a:r>
              <a:rPr lang="en-US" sz="3884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– </a:t>
            </a:r>
            <a:r>
              <a:rPr lang="en-US" sz="3884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спроектировать</a:t>
            </a:r>
            <a:r>
              <a:rPr lang="en-US" sz="3884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и </a:t>
            </a:r>
            <a:r>
              <a:rPr lang="en-US" sz="3884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реализовать</a:t>
            </a:r>
            <a:r>
              <a:rPr lang="en-US" sz="3884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3884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систему</a:t>
            </a:r>
            <a:r>
              <a:rPr lang="en-US" sz="3884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3884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приёма</a:t>
            </a:r>
            <a:r>
              <a:rPr lang="en-US" sz="3884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, </a:t>
            </a:r>
            <a:r>
              <a:rPr lang="en-US" sz="3884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хранения</a:t>
            </a:r>
            <a:r>
              <a:rPr lang="en-US" sz="3884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и </a:t>
            </a:r>
            <a:r>
              <a:rPr lang="en-US" sz="3884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обработки</a:t>
            </a:r>
            <a:r>
              <a:rPr lang="en-US" sz="3884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3884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транзакций</a:t>
            </a:r>
            <a:r>
              <a:rPr lang="en-US" sz="3884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с </a:t>
            </a:r>
            <a:r>
              <a:rPr lang="en-US" sz="3884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возможностью</a:t>
            </a:r>
            <a:r>
              <a:rPr lang="en-US" sz="3884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3884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оперативного</a:t>
            </a:r>
            <a:r>
              <a:rPr lang="en-US" sz="3884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3884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мониторинга</a:t>
            </a:r>
            <a:r>
              <a:rPr lang="en-US" sz="3884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.</a:t>
            </a:r>
          </a:p>
          <a:p>
            <a:pPr algn="l">
              <a:lnSpc>
                <a:spcPts val="4661"/>
              </a:lnSpc>
            </a:pPr>
            <a:r>
              <a:rPr lang="en-US" sz="3884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Задачи</a:t>
            </a:r>
            <a:r>
              <a:rPr lang="en-US" sz="3884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:</a:t>
            </a:r>
          </a:p>
          <a:p>
            <a:pPr marL="1677543" lvl="2" indent="-559181" algn="l">
              <a:lnSpc>
                <a:spcPts val="4661"/>
              </a:lnSpc>
              <a:buFont typeface="Arial"/>
              <a:buChar char="⚬"/>
            </a:pPr>
            <a:r>
              <a:rPr lang="en-US" sz="3884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Спроектировать</a:t>
            </a:r>
            <a:r>
              <a:rPr lang="en-US" sz="3884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3884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систему</a:t>
            </a:r>
            <a:r>
              <a:rPr lang="en-US" sz="3884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: </a:t>
            </a:r>
            <a:r>
              <a:rPr lang="en-US" sz="3884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модель</a:t>
            </a:r>
            <a:r>
              <a:rPr lang="en-US" sz="3884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3884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данных</a:t>
            </a:r>
            <a:r>
              <a:rPr lang="en-US" sz="3884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, API </a:t>
            </a:r>
            <a:r>
              <a:rPr lang="en-US" sz="3884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для</a:t>
            </a:r>
            <a:r>
              <a:rPr lang="en-US" sz="3884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3884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операций</a:t>
            </a:r>
            <a:r>
              <a:rPr lang="en-US" sz="3884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и </a:t>
            </a:r>
            <a:r>
              <a:rPr lang="en-US" sz="3884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аналитики</a:t>
            </a:r>
            <a:r>
              <a:rPr lang="en-US" sz="3884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, </a:t>
            </a:r>
            <a:r>
              <a:rPr lang="ru-RU" sz="3884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механизмы хранения и валидации</a:t>
            </a:r>
            <a:endParaRPr lang="en-US" sz="3884" dirty="0">
              <a:solidFill>
                <a:srgbClr val="19415E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marL="1677543" lvl="2" indent="-559181" algn="l">
              <a:lnSpc>
                <a:spcPts val="4661"/>
              </a:lnSpc>
              <a:buFont typeface="Arial"/>
              <a:buChar char="⚬"/>
            </a:pPr>
            <a:r>
              <a:rPr lang="en-US" sz="3884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Реализовать</a:t>
            </a:r>
            <a:r>
              <a:rPr lang="en-US" sz="3884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ru-RU" sz="3884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отказоустйчивый</a:t>
            </a:r>
            <a:r>
              <a:rPr lang="ru-RU" sz="3884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3884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функционал</a:t>
            </a:r>
            <a:r>
              <a:rPr lang="en-US" sz="3884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3884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обработки</a:t>
            </a:r>
            <a:r>
              <a:rPr lang="en-US" sz="3884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3884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сообщений</a:t>
            </a:r>
            <a:r>
              <a:rPr lang="ru-RU" sz="3884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с использованием брокера</a:t>
            </a:r>
            <a:endParaRPr lang="en-US" sz="3884" dirty="0">
              <a:solidFill>
                <a:srgbClr val="19415E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marL="1677543" lvl="2" indent="-559181" algn="l">
              <a:lnSpc>
                <a:spcPts val="4661"/>
              </a:lnSpc>
              <a:buFont typeface="Arial"/>
              <a:buChar char="⚬"/>
            </a:pPr>
            <a:r>
              <a:rPr lang="en-US" sz="3884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Обеспечить</a:t>
            </a:r>
            <a:r>
              <a:rPr lang="en-US" sz="3884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ru-RU" sz="3884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наблюдаемость и</a:t>
            </a:r>
            <a:r>
              <a:rPr lang="en-US" sz="3884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3884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надёжность</a:t>
            </a:r>
            <a:r>
              <a:rPr lang="en-US" sz="3884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3884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при</a:t>
            </a:r>
            <a:r>
              <a:rPr lang="en-US" sz="3884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3884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помощи</a:t>
            </a:r>
            <a:r>
              <a:rPr lang="en-US" sz="3884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3884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метрик</a:t>
            </a:r>
            <a:r>
              <a:rPr lang="en-US" sz="3884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,  </a:t>
            </a:r>
            <a:r>
              <a:rPr lang="en-US" sz="3884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дашбордов</a:t>
            </a:r>
            <a:r>
              <a:rPr lang="en-US" sz="3884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и </a:t>
            </a:r>
            <a:r>
              <a:rPr lang="en-US" sz="3884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логов</a:t>
            </a:r>
            <a:r>
              <a:rPr lang="en-US" sz="3884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.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0" y="9534782"/>
            <a:ext cx="18288000" cy="775983"/>
            <a:chOff x="0" y="0"/>
            <a:chExt cx="24384000" cy="1034644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0"/>
              <a:ext cx="24382806" cy="1034644"/>
              <a:chOff x="0" y="0"/>
              <a:chExt cx="24382806" cy="1034644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24382857" cy="1034669"/>
              </a:xfrm>
              <a:custGeom>
                <a:avLst/>
                <a:gdLst/>
                <a:ahLst/>
                <a:cxnLst/>
                <a:rect l="l" t="t" r="r" b="b"/>
                <a:pathLst>
                  <a:path w="24382857" h="1034669">
                    <a:moveTo>
                      <a:pt x="0" y="0"/>
                    </a:moveTo>
                    <a:lnTo>
                      <a:pt x="24382857" y="0"/>
                    </a:lnTo>
                    <a:lnTo>
                      <a:pt x="24382857" y="1034669"/>
                    </a:lnTo>
                    <a:lnTo>
                      <a:pt x="0" y="103466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7DEE3"/>
              </a:solidFill>
            </p:spPr>
          </p:sp>
        </p:grpSp>
        <p:grpSp>
          <p:nvGrpSpPr>
            <p:cNvPr id="11" name="Group 11"/>
            <p:cNvGrpSpPr/>
            <p:nvPr/>
          </p:nvGrpSpPr>
          <p:grpSpPr>
            <a:xfrm>
              <a:off x="81839" y="82220"/>
              <a:ext cx="24302161" cy="870204"/>
              <a:chOff x="0" y="0"/>
              <a:chExt cx="24302161" cy="87020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24302155" cy="870207"/>
              </a:xfrm>
              <a:custGeom>
                <a:avLst/>
                <a:gdLst/>
                <a:ahLst/>
                <a:cxnLst/>
                <a:rect l="l" t="t" r="r" b="b"/>
                <a:pathLst>
                  <a:path w="24302155" h="870207">
                    <a:moveTo>
                      <a:pt x="0" y="0"/>
                    </a:moveTo>
                    <a:lnTo>
                      <a:pt x="24302155" y="0"/>
                    </a:lnTo>
                    <a:lnTo>
                      <a:pt x="24302155" y="870207"/>
                    </a:lnTo>
                    <a:lnTo>
                      <a:pt x="0" y="870207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504096" r="-331" b="-487827"/>
                </a:stretch>
              </a:blipFill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24302161" cy="87020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4320"/>
                  </a:lnSpc>
                </a:pPr>
                <a:r>
                  <a:rPr lang="en-US" sz="3600">
                    <a:solidFill>
                      <a:srgbClr val="19415E"/>
                    </a:solidFill>
                    <a:latin typeface="Atkinson Hyperlegible"/>
                    <a:ea typeface="Atkinson Hyperlegible"/>
                    <a:cs typeface="Atkinson Hyperlegible"/>
                    <a:sym typeface="Atkinson Hyperlegible"/>
                  </a:rPr>
                  <a:t>2</a:t>
                </a:r>
              </a:p>
            </p:txBody>
          </p:sp>
        </p:grpSp>
      </p:grp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1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0484" y="157677"/>
            <a:ext cx="1173423" cy="1130760"/>
            <a:chOff x="0" y="0"/>
            <a:chExt cx="1564564" cy="15076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564513" cy="1507617"/>
            </a:xfrm>
            <a:custGeom>
              <a:avLst/>
              <a:gdLst/>
              <a:ahLst/>
              <a:cxnLst/>
              <a:rect l="l" t="t" r="r" b="b"/>
              <a:pathLst>
                <a:path w="1564513" h="1507617">
                  <a:moveTo>
                    <a:pt x="0" y="0"/>
                  </a:moveTo>
                  <a:lnTo>
                    <a:pt x="1564513" y="0"/>
                  </a:lnTo>
                  <a:lnTo>
                    <a:pt x="1564513" y="1507617"/>
                  </a:lnTo>
                  <a:lnTo>
                    <a:pt x="0" y="15076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45" r="-48" b="-4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1257119" y="547564"/>
            <a:ext cx="15772324" cy="1987200"/>
            <a:chOff x="0" y="0"/>
            <a:chExt cx="21029765" cy="26496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029760" cy="2649599"/>
            </a:xfrm>
            <a:custGeom>
              <a:avLst/>
              <a:gdLst/>
              <a:ahLst/>
              <a:cxnLst/>
              <a:rect l="l" t="t" r="r" b="b"/>
              <a:pathLst>
                <a:path w="21029760" h="2649599">
                  <a:moveTo>
                    <a:pt x="0" y="0"/>
                  </a:moveTo>
                  <a:lnTo>
                    <a:pt x="21029760" y="0"/>
                  </a:lnTo>
                  <a:lnTo>
                    <a:pt x="21029760" y="2649599"/>
                  </a:lnTo>
                  <a:lnTo>
                    <a:pt x="0" y="264959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4651" b="-104652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76200"/>
              <a:ext cx="21029765" cy="2573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480"/>
                </a:lnSpc>
              </a:pPr>
              <a:r>
                <a:rPr lang="en-US" sz="6000">
                  <a:solidFill>
                    <a:srgbClr val="4F86C6"/>
                  </a:solidFill>
                  <a:latin typeface="IBM Plex Sans Thai Looped"/>
                  <a:ea typeface="IBM Plex Sans Thai Looped"/>
                  <a:cs typeface="IBM Plex Sans Thai Looped"/>
                  <a:sym typeface="IBM Plex Sans Thai Looped"/>
                </a:rPr>
                <a:t>ОГРАНИЧЕНИЯ ЗАДАЧИ</a:t>
              </a:r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348559" y="2784062"/>
            <a:ext cx="15589444" cy="3847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906780" lvl="1" indent="-453390" algn="l">
              <a:lnSpc>
                <a:spcPts val="5040"/>
              </a:lnSpc>
              <a:buFont typeface="Arial"/>
              <a:buChar char="•"/>
            </a:pPr>
            <a:r>
              <a:rPr lang="en-US" sz="4200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Разработка</a:t>
            </a:r>
            <a:r>
              <a:rPr lang="en-US" sz="4200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4200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фокусируется</a:t>
            </a:r>
            <a:r>
              <a:rPr lang="en-US" sz="4200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4200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на</a:t>
            </a:r>
            <a:r>
              <a:rPr lang="ru-RU" sz="4200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4200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backend-</a:t>
            </a:r>
            <a:r>
              <a:rPr lang="ru-RU" sz="4200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составляющей</a:t>
            </a:r>
            <a:endParaRPr lang="en-US" sz="4200" dirty="0">
              <a:solidFill>
                <a:srgbClr val="19415E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marL="906780" lvl="1" indent="-453390" algn="l">
              <a:lnSpc>
                <a:spcPts val="5040"/>
              </a:lnSpc>
              <a:buFont typeface="Arial"/>
              <a:buChar char="•"/>
            </a:pPr>
            <a:r>
              <a:rPr lang="en-US" sz="4200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Не</a:t>
            </a:r>
            <a:r>
              <a:rPr lang="en-US" sz="4200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ru-RU" sz="4200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полностью </a:t>
            </a:r>
            <a:r>
              <a:rPr lang="en-US" sz="4200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рассмотрены</a:t>
            </a:r>
            <a:r>
              <a:rPr lang="en-US" sz="4200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4200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вопросы</a:t>
            </a:r>
            <a:r>
              <a:rPr lang="en-US" sz="4200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4200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сертификации</a:t>
            </a:r>
            <a:r>
              <a:rPr lang="en-US" sz="4200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ru-RU" sz="4200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по стандарту </a:t>
            </a:r>
            <a:r>
              <a:rPr lang="en-US" sz="4200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PCI DSS, </a:t>
            </a:r>
            <a:r>
              <a:rPr lang="ru-RU" sz="4200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а также </a:t>
            </a:r>
            <a:r>
              <a:rPr lang="ru-RU" sz="4200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соблюдени</a:t>
            </a:r>
            <a:r>
              <a:rPr lang="ru-RU" sz="4200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юридических требований банковских регуляторов</a:t>
            </a:r>
            <a:endParaRPr lang="en-US" sz="4200" dirty="0">
              <a:solidFill>
                <a:srgbClr val="19415E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marL="906780" lvl="1" indent="-453390" algn="l">
              <a:lnSpc>
                <a:spcPts val="5040"/>
              </a:lnSpc>
              <a:buFont typeface="Arial"/>
              <a:buChar char="•"/>
            </a:pPr>
            <a:r>
              <a:rPr lang="ru-RU" sz="4200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В работе рассматривается один экземпляр системы без кластеризации и масштабирования</a:t>
            </a:r>
            <a:endParaRPr lang="en-US" sz="4200" dirty="0">
              <a:solidFill>
                <a:srgbClr val="19415E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grpSp>
        <p:nvGrpSpPr>
          <p:cNvPr id="8" name="Group 8"/>
          <p:cNvGrpSpPr/>
          <p:nvPr/>
        </p:nvGrpSpPr>
        <p:grpSpPr>
          <a:xfrm>
            <a:off x="0" y="9534782"/>
            <a:ext cx="18288000" cy="775983"/>
            <a:chOff x="0" y="0"/>
            <a:chExt cx="24384000" cy="1034644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0"/>
              <a:ext cx="24382806" cy="1034644"/>
              <a:chOff x="0" y="0"/>
              <a:chExt cx="24382806" cy="1034644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24382857" cy="1034669"/>
              </a:xfrm>
              <a:custGeom>
                <a:avLst/>
                <a:gdLst/>
                <a:ahLst/>
                <a:cxnLst/>
                <a:rect l="l" t="t" r="r" b="b"/>
                <a:pathLst>
                  <a:path w="24382857" h="1034669">
                    <a:moveTo>
                      <a:pt x="0" y="0"/>
                    </a:moveTo>
                    <a:lnTo>
                      <a:pt x="24382857" y="0"/>
                    </a:lnTo>
                    <a:lnTo>
                      <a:pt x="24382857" y="1034669"/>
                    </a:lnTo>
                    <a:lnTo>
                      <a:pt x="0" y="103466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7DEE3"/>
              </a:solidFill>
            </p:spPr>
          </p:sp>
        </p:grpSp>
        <p:grpSp>
          <p:nvGrpSpPr>
            <p:cNvPr id="11" name="Group 11"/>
            <p:cNvGrpSpPr/>
            <p:nvPr/>
          </p:nvGrpSpPr>
          <p:grpSpPr>
            <a:xfrm>
              <a:off x="81839" y="82220"/>
              <a:ext cx="24302161" cy="870204"/>
              <a:chOff x="0" y="0"/>
              <a:chExt cx="24302161" cy="87020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24302155" cy="870207"/>
              </a:xfrm>
              <a:custGeom>
                <a:avLst/>
                <a:gdLst/>
                <a:ahLst/>
                <a:cxnLst/>
                <a:rect l="l" t="t" r="r" b="b"/>
                <a:pathLst>
                  <a:path w="24302155" h="870207">
                    <a:moveTo>
                      <a:pt x="0" y="0"/>
                    </a:moveTo>
                    <a:lnTo>
                      <a:pt x="24302155" y="0"/>
                    </a:lnTo>
                    <a:lnTo>
                      <a:pt x="24302155" y="870207"/>
                    </a:lnTo>
                    <a:lnTo>
                      <a:pt x="0" y="870207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504096" r="-331" b="-487827"/>
                </a:stretch>
              </a:blipFill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24302161" cy="87020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4320"/>
                  </a:lnSpc>
                </a:pPr>
                <a:r>
                  <a:rPr lang="en-US" sz="3600">
                    <a:solidFill>
                      <a:srgbClr val="19415E"/>
                    </a:solidFill>
                    <a:latin typeface="Atkinson Hyperlegible"/>
                    <a:ea typeface="Atkinson Hyperlegible"/>
                    <a:cs typeface="Atkinson Hyperlegible"/>
                    <a:sym typeface="Atkinson Hyperlegible"/>
                  </a:rPr>
                  <a:t>3</a:t>
                </a:r>
              </a:p>
            </p:txBody>
          </p:sp>
        </p:grpSp>
      </p:grp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1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0484" y="157677"/>
            <a:ext cx="1173423" cy="1130760"/>
            <a:chOff x="0" y="0"/>
            <a:chExt cx="1564564" cy="15076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564513" cy="1507617"/>
            </a:xfrm>
            <a:custGeom>
              <a:avLst/>
              <a:gdLst/>
              <a:ahLst/>
              <a:cxnLst/>
              <a:rect l="l" t="t" r="r" b="b"/>
              <a:pathLst>
                <a:path w="1564513" h="1507617">
                  <a:moveTo>
                    <a:pt x="0" y="0"/>
                  </a:moveTo>
                  <a:lnTo>
                    <a:pt x="1564513" y="0"/>
                  </a:lnTo>
                  <a:lnTo>
                    <a:pt x="1564513" y="1507617"/>
                  </a:lnTo>
                  <a:lnTo>
                    <a:pt x="0" y="15076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45" r="-48" b="-4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1257119" y="547564"/>
            <a:ext cx="15772324" cy="1987200"/>
            <a:chOff x="0" y="0"/>
            <a:chExt cx="21029765" cy="26496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029760" cy="2649599"/>
            </a:xfrm>
            <a:custGeom>
              <a:avLst/>
              <a:gdLst/>
              <a:ahLst/>
              <a:cxnLst/>
              <a:rect l="l" t="t" r="r" b="b"/>
              <a:pathLst>
                <a:path w="21029760" h="2649599">
                  <a:moveTo>
                    <a:pt x="0" y="0"/>
                  </a:moveTo>
                  <a:lnTo>
                    <a:pt x="21029760" y="0"/>
                  </a:lnTo>
                  <a:lnTo>
                    <a:pt x="21029760" y="2649599"/>
                  </a:lnTo>
                  <a:lnTo>
                    <a:pt x="0" y="264959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4651" b="-104652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76200"/>
              <a:ext cx="21029765" cy="2573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480"/>
                </a:lnSpc>
              </a:pPr>
              <a:r>
                <a:rPr lang="en-US" sz="6000" dirty="0">
                  <a:solidFill>
                    <a:srgbClr val="4F86C6"/>
                  </a:solidFill>
                  <a:latin typeface="IBM Plex Sans Thai Looped"/>
                  <a:ea typeface="IBM Plex Sans Thai Looped"/>
                  <a:cs typeface="IBM Plex Sans Thai Looped"/>
                  <a:sym typeface="IBM Plex Sans Thai Looped"/>
                </a:rPr>
                <a:t>ПОРЯДОК ВЫПОЛНЕНИЯ РАБОТЫ</a:t>
              </a:r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348559" y="2784062"/>
            <a:ext cx="15589444" cy="55956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1591" lvl="1" indent="-365796" algn="l">
              <a:lnSpc>
                <a:spcPts val="4851"/>
              </a:lnSpc>
              <a:buFont typeface="Arial"/>
              <a:buChar char="•"/>
            </a:pPr>
            <a:r>
              <a:rPr lang="en-US" sz="4042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Проанализировать</a:t>
            </a:r>
            <a:r>
              <a:rPr lang="en-US" sz="4042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4042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рынок</a:t>
            </a:r>
            <a:r>
              <a:rPr lang="en-US" sz="4042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, </a:t>
            </a:r>
            <a:r>
              <a:rPr lang="en-US" sz="4042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существующие</a:t>
            </a:r>
            <a:r>
              <a:rPr lang="en-US" sz="4042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4042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решения</a:t>
            </a:r>
            <a:r>
              <a:rPr lang="ru-RU" sz="4042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и их недостатки</a:t>
            </a:r>
            <a:r>
              <a:rPr lang="en-US" sz="4042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.</a:t>
            </a:r>
          </a:p>
          <a:p>
            <a:pPr marL="731591" lvl="1" indent="-365796" algn="l">
              <a:lnSpc>
                <a:spcPts val="4851"/>
              </a:lnSpc>
              <a:buFont typeface="Arial"/>
              <a:buChar char="•"/>
            </a:pPr>
            <a:r>
              <a:rPr lang="ru-RU" sz="4042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Собрать основу сервиса по шаблону – подготовить модули</a:t>
            </a:r>
            <a:r>
              <a:rPr lang="en-US" sz="4042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, </a:t>
            </a:r>
            <a:r>
              <a:rPr lang="ru-RU" sz="4042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каталоги</a:t>
            </a:r>
            <a:r>
              <a:rPr lang="en-US" sz="4042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, </a:t>
            </a:r>
            <a:r>
              <a:rPr lang="ru-RU" sz="4042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файлы </a:t>
            </a:r>
            <a:r>
              <a:rPr lang="ru-RU" sz="4042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конфигунации</a:t>
            </a:r>
            <a:r>
              <a:rPr lang="en-US" sz="4042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, </a:t>
            </a:r>
            <a:r>
              <a:rPr lang="ru-RU" sz="4042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стартовое поведение</a:t>
            </a:r>
            <a:endParaRPr lang="en-US" sz="4042" dirty="0">
              <a:solidFill>
                <a:srgbClr val="19415E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marL="731591" lvl="1" indent="-365796" algn="l">
              <a:lnSpc>
                <a:spcPts val="4851"/>
              </a:lnSpc>
              <a:buFont typeface="Arial"/>
              <a:buChar char="•"/>
            </a:pPr>
            <a:r>
              <a:rPr lang="en-US" sz="4042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Работа</a:t>
            </a:r>
            <a:r>
              <a:rPr lang="en-US" sz="4042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с </a:t>
            </a:r>
            <a:r>
              <a:rPr lang="en-US" sz="4042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брокером</a:t>
            </a:r>
            <a:r>
              <a:rPr lang="en-US" sz="4042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: </a:t>
            </a:r>
            <a:r>
              <a:rPr lang="en-US" sz="4042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продюсер</a:t>
            </a:r>
            <a:r>
              <a:rPr lang="en-US" sz="4042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, </a:t>
            </a:r>
            <a:r>
              <a:rPr lang="en-US" sz="4042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конс</a:t>
            </a:r>
            <a:r>
              <a:rPr lang="ru-RU" sz="4042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ь</a:t>
            </a:r>
            <a:r>
              <a:rPr lang="en-US" sz="4042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юмер</a:t>
            </a:r>
            <a:r>
              <a:rPr lang="en-US" sz="4042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, DLQ и </a:t>
            </a:r>
            <a:r>
              <a:rPr lang="en-US" sz="4042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гарантии</a:t>
            </a:r>
            <a:r>
              <a:rPr lang="en-US" sz="4042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4042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доставки</a:t>
            </a:r>
            <a:endParaRPr lang="en-US" sz="4042" dirty="0">
              <a:solidFill>
                <a:srgbClr val="19415E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marL="731591" lvl="1" indent="-365796" algn="l">
              <a:lnSpc>
                <a:spcPts val="4851"/>
              </a:lnSpc>
              <a:buFont typeface="Arial"/>
              <a:buChar char="•"/>
            </a:pPr>
            <a:r>
              <a:rPr lang="en-US" sz="4042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Обеспечить</a:t>
            </a:r>
            <a:r>
              <a:rPr lang="en-US" sz="4042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4042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возможность</a:t>
            </a:r>
            <a:r>
              <a:rPr lang="en-US" sz="4042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4042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наблюдаемости</a:t>
            </a:r>
            <a:endParaRPr lang="en-US" sz="4042" dirty="0">
              <a:solidFill>
                <a:srgbClr val="19415E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marL="731591" lvl="1" indent="-365796" algn="l">
              <a:lnSpc>
                <a:spcPts val="4851"/>
              </a:lnSpc>
              <a:buFont typeface="Arial"/>
              <a:buChar char="•"/>
            </a:pPr>
            <a:r>
              <a:rPr lang="en-US" sz="4042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Провести</a:t>
            </a:r>
            <a:r>
              <a:rPr lang="en-US" sz="4042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4042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тестирование</a:t>
            </a:r>
            <a:r>
              <a:rPr lang="en-US" sz="4042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4042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системы</a:t>
            </a:r>
            <a:endParaRPr lang="en-US" sz="4042" dirty="0">
              <a:solidFill>
                <a:srgbClr val="19415E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marL="731591" lvl="1" indent="-365796" algn="l">
              <a:lnSpc>
                <a:spcPts val="4365"/>
              </a:lnSpc>
            </a:pPr>
            <a:endParaRPr lang="en-US" sz="4042" dirty="0">
              <a:solidFill>
                <a:srgbClr val="19415E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grpSp>
        <p:nvGrpSpPr>
          <p:cNvPr id="8" name="Group 8"/>
          <p:cNvGrpSpPr/>
          <p:nvPr/>
        </p:nvGrpSpPr>
        <p:grpSpPr>
          <a:xfrm>
            <a:off x="0" y="9534782"/>
            <a:ext cx="18288000" cy="775983"/>
            <a:chOff x="0" y="0"/>
            <a:chExt cx="24384000" cy="1034644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0"/>
              <a:ext cx="24382806" cy="1034644"/>
              <a:chOff x="0" y="0"/>
              <a:chExt cx="24382806" cy="1034644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24382857" cy="1034669"/>
              </a:xfrm>
              <a:custGeom>
                <a:avLst/>
                <a:gdLst/>
                <a:ahLst/>
                <a:cxnLst/>
                <a:rect l="l" t="t" r="r" b="b"/>
                <a:pathLst>
                  <a:path w="24382857" h="1034669">
                    <a:moveTo>
                      <a:pt x="0" y="0"/>
                    </a:moveTo>
                    <a:lnTo>
                      <a:pt x="24382857" y="0"/>
                    </a:lnTo>
                    <a:lnTo>
                      <a:pt x="24382857" y="1034669"/>
                    </a:lnTo>
                    <a:lnTo>
                      <a:pt x="0" y="103466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7DEE3"/>
              </a:solidFill>
            </p:spPr>
          </p:sp>
        </p:grpSp>
        <p:grpSp>
          <p:nvGrpSpPr>
            <p:cNvPr id="11" name="Group 11"/>
            <p:cNvGrpSpPr/>
            <p:nvPr/>
          </p:nvGrpSpPr>
          <p:grpSpPr>
            <a:xfrm>
              <a:off x="81839" y="82220"/>
              <a:ext cx="24302161" cy="870204"/>
              <a:chOff x="0" y="0"/>
              <a:chExt cx="24302161" cy="87020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24302155" cy="870207"/>
              </a:xfrm>
              <a:custGeom>
                <a:avLst/>
                <a:gdLst/>
                <a:ahLst/>
                <a:cxnLst/>
                <a:rect l="l" t="t" r="r" b="b"/>
                <a:pathLst>
                  <a:path w="24302155" h="870207">
                    <a:moveTo>
                      <a:pt x="0" y="0"/>
                    </a:moveTo>
                    <a:lnTo>
                      <a:pt x="24302155" y="0"/>
                    </a:lnTo>
                    <a:lnTo>
                      <a:pt x="24302155" y="870207"/>
                    </a:lnTo>
                    <a:lnTo>
                      <a:pt x="0" y="870207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504096" r="-331" b="-487827"/>
                </a:stretch>
              </a:blipFill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24302161" cy="87020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4320"/>
                  </a:lnSpc>
                </a:pPr>
                <a:r>
                  <a:rPr lang="en-US" sz="3600">
                    <a:solidFill>
                      <a:srgbClr val="19415E"/>
                    </a:solidFill>
                    <a:latin typeface="Atkinson Hyperlegible"/>
                    <a:ea typeface="Atkinson Hyperlegible"/>
                    <a:cs typeface="Atkinson Hyperlegible"/>
                    <a:sym typeface="Atkinson Hyperlegible"/>
                  </a:rPr>
                  <a:t>4</a:t>
                </a:r>
              </a:p>
            </p:txBody>
          </p:sp>
        </p:grpSp>
      </p:grp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1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0484" y="157677"/>
            <a:ext cx="1173423" cy="1130760"/>
            <a:chOff x="0" y="0"/>
            <a:chExt cx="1564564" cy="15076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564513" cy="1507617"/>
            </a:xfrm>
            <a:custGeom>
              <a:avLst/>
              <a:gdLst/>
              <a:ahLst/>
              <a:cxnLst/>
              <a:rect l="l" t="t" r="r" b="b"/>
              <a:pathLst>
                <a:path w="1564513" h="1507617">
                  <a:moveTo>
                    <a:pt x="0" y="0"/>
                  </a:moveTo>
                  <a:lnTo>
                    <a:pt x="1564513" y="0"/>
                  </a:lnTo>
                  <a:lnTo>
                    <a:pt x="1564513" y="1507617"/>
                  </a:lnTo>
                  <a:lnTo>
                    <a:pt x="0" y="15076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45" r="-48" b="-4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1257119" y="547564"/>
            <a:ext cx="15772324" cy="1987200"/>
            <a:chOff x="0" y="0"/>
            <a:chExt cx="21029765" cy="26496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029760" cy="2649599"/>
            </a:xfrm>
            <a:custGeom>
              <a:avLst/>
              <a:gdLst/>
              <a:ahLst/>
              <a:cxnLst/>
              <a:rect l="l" t="t" r="r" b="b"/>
              <a:pathLst>
                <a:path w="21029760" h="2649599">
                  <a:moveTo>
                    <a:pt x="0" y="0"/>
                  </a:moveTo>
                  <a:lnTo>
                    <a:pt x="21029760" y="0"/>
                  </a:lnTo>
                  <a:lnTo>
                    <a:pt x="21029760" y="2649599"/>
                  </a:lnTo>
                  <a:lnTo>
                    <a:pt x="0" y="264959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4651" b="-104652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76200"/>
              <a:ext cx="21029765" cy="2573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480"/>
                </a:lnSpc>
              </a:pPr>
              <a:r>
                <a:rPr lang="ru-RU" sz="6000" dirty="0">
                  <a:solidFill>
                    <a:srgbClr val="4F86C6"/>
                  </a:solidFill>
                  <a:latin typeface="IBM Plex Sans Thai Looped"/>
                  <a:ea typeface="IBM Plex Sans Thai Looped"/>
                  <a:cs typeface="IBM Plex Sans Thai Looped"/>
                  <a:sym typeface="IBM Plex Sans Thai Looped"/>
                </a:rPr>
                <a:t>СРЕДСТВА И МЕТОДЫ РАЗРАБОТКИ</a:t>
              </a:r>
              <a:endParaRPr lang="en-US" sz="6000" dirty="0">
                <a:solidFill>
                  <a:srgbClr val="4F86C6"/>
                </a:solidFill>
                <a:latin typeface="IBM Plex Sans Thai Looped"/>
                <a:ea typeface="IBM Plex Sans Thai Looped"/>
                <a:cs typeface="IBM Plex Sans Thai Looped"/>
                <a:sym typeface="IBM Plex Sans Thai Looped"/>
              </a:endParaRP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620002" y="2407872"/>
            <a:ext cx="15255535" cy="5680805"/>
            <a:chOff x="0" y="0"/>
            <a:chExt cx="20340714" cy="7574407"/>
          </a:xfrm>
        </p:grpSpPr>
        <p:grpSp>
          <p:nvGrpSpPr>
            <p:cNvPr id="8" name="Group 8"/>
            <p:cNvGrpSpPr/>
            <p:nvPr/>
          </p:nvGrpSpPr>
          <p:grpSpPr>
            <a:xfrm>
              <a:off x="6655676" y="374396"/>
              <a:ext cx="3064320" cy="3239999"/>
              <a:chOff x="0" y="0"/>
              <a:chExt cx="3064320" cy="3239999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3064383" cy="3240024"/>
              </a:xfrm>
              <a:custGeom>
                <a:avLst/>
                <a:gdLst/>
                <a:ahLst/>
                <a:cxnLst/>
                <a:rect l="l" t="t" r="r" b="b"/>
                <a:pathLst>
                  <a:path w="3064383" h="3240024">
                    <a:moveTo>
                      <a:pt x="0" y="0"/>
                    </a:moveTo>
                    <a:lnTo>
                      <a:pt x="3064383" y="0"/>
                    </a:lnTo>
                    <a:lnTo>
                      <a:pt x="3064383" y="3240024"/>
                    </a:lnTo>
                    <a:lnTo>
                      <a:pt x="0" y="324002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 l="-67" r="-67"/>
                </a:stretch>
              </a:blipFill>
            </p:spPr>
          </p:sp>
        </p:grpSp>
        <p:grpSp>
          <p:nvGrpSpPr>
            <p:cNvPr id="10" name="Group 10"/>
            <p:cNvGrpSpPr/>
            <p:nvPr/>
          </p:nvGrpSpPr>
          <p:grpSpPr>
            <a:xfrm>
              <a:off x="16199993" y="0"/>
              <a:ext cx="3960000" cy="3974402"/>
              <a:chOff x="0" y="0"/>
              <a:chExt cx="3960000" cy="3974402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3959987" cy="3974338"/>
              </a:xfrm>
              <a:custGeom>
                <a:avLst/>
                <a:gdLst/>
                <a:ahLst/>
                <a:cxnLst/>
                <a:rect l="l" t="t" r="r" b="b"/>
                <a:pathLst>
                  <a:path w="3959987" h="3974338">
                    <a:moveTo>
                      <a:pt x="0" y="0"/>
                    </a:moveTo>
                    <a:lnTo>
                      <a:pt x="3959987" y="0"/>
                    </a:lnTo>
                    <a:lnTo>
                      <a:pt x="3959987" y="3974338"/>
                    </a:lnTo>
                    <a:lnTo>
                      <a:pt x="0" y="3974338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58" b="-58"/>
                </a:stretch>
              </a:blipFill>
            </p:spPr>
          </p:sp>
        </p:grpSp>
        <p:grpSp>
          <p:nvGrpSpPr>
            <p:cNvPr id="12" name="Group 12"/>
            <p:cNvGrpSpPr/>
            <p:nvPr/>
          </p:nvGrpSpPr>
          <p:grpSpPr>
            <a:xfrm>
              <a:off x="359994" y="4643272"/>
              <a:ext cx="5759996" cy="2571115"/>
              <a:chOff x="0" y="0"/>
              <a:chExt cx="5759996" cy="2571115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5759958" cy="2571115"/>
              </a:xfrm>
              <a:custGeom>
                <a:avLst/>
                <a:gdLst/>
                <a:ahLst/>
                <a:cxnLst/>
                <a:rect l="l" t="t" r="r" b="b"/>
                <a:pathLst>
                  <a:path w="5759958" h="2571115">
                    <a:moveTo>
                      <a:pt x="0" y="0"/>
                    </a:moveTo>
                    <a:lnTo>
                      <a:pt x="5759958" y="0"/>
                    </a:lnTo>
                    <a:lnTo>
                      <a:pt x="5759958" y="2571115"/>
                    </a:lnTo>
                    <a:lnTo>
                      <a:pt x="0" y="257111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 l="-93" r="-93"/>
                </a:stretch>
              </a:blipFill>
            </p:spPr>
          </p:sp>
        </p:grpSp>
        <p:grpSp>
          <p:nvGrpSpPr>
            <p:cNvPr id="14" name="Group 14"/>
            <p:cNvGrpSpPr/>
            <p:nvPr/>
          </p:nvGrpSpPr>
          <p:grpSpPr>
            <a:xfrm>
              <a:off x="7919999" y="5007597"/>
              <a:ext cx="5814720" cy="2352243"/>
              <a:chOff x="0" y="0"/>
              <a:chExt cx="5814720" cy="2352243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5814695" cy="2352294"/>
              </a:xfrm>
              <a:custGeom>
                <a:avLst/>
                <a:gdLst/>
                <a:ahLst/>
                <a:cxnLst/>
                <a:rect l="l" t="t" r="r" b="b"/>
                <a:pathLst>
                  <a:path w="5814695" h="2352294">
                    <a:moveTo>
                      <a:pt x="0" y="0"/>
                    </a:moveTo>
                    <a:lnTo>
                      <a:pt x="5814695" y="0"/>
                    </a:lnTo>
                    <a:lnTo>
                      <a:pt x="5814695" y="2352294"/>
                    </a:lnTo>
                    <a:lnTo>
                      <a:pt x="0" y="235229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t="-248" b="-248"/>
                </a:stretch>
              </a:blipFill>
            </p:spPr>
          </p:sp>
        </p:grpSp>
        <p:grpSp>
          <p:nvGrpSpPr>
            <p:cNvPr id="16" name="Group 16"/>
            <p:cNvGrpSpPr/>
            <p:nvPr/>
          </p:nvGrpSpPr>
          <p:grpSpPr>
            <a:xfrm>
              <a:off x="16199993" y="4813922"/>
              <a:ext cx="4140721" cy="2760485"/>
              <a:chOff x="0" y="0"/>
              <a:chExt cx="4140721" cy="2760485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4140708" cy="2760472"/>
              </a:xfrm>
              <a:custGeom>
                <a:avLst/>
                <a:gdLst/>
                <a:ahLst/>
                <a:cxnLst/>
                <a:rect l="l" t="t" r="r" b="b"/>
                <a:pathLst>
                  <a:path w="4140708" h="2760472">
                    <a:moveTo>
                      <a:pt x="0" y="0"/>
                    </a:moveTo>
                    <a:lnTo>
                      <a:pt x="4140708" y="0"/>
                    </a:lnTo>
                    <a:lnTo>
                      <a:pt x="4140708" y="2760472"/>
                    </a:lnTo>
                    <a:lnTo>
                      <a:pt x="0" y="276047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>
                  <a:fillRect t="-115" b="-115"/>
                </a:stretch>
              </a:blipFill>
            </p:spPr>
          </p:sp>
        </p:grpSp>
        <p:grpSp>
          <p:nvGrpSpPr>
            <p:cNvPr id="18" name="Group 18"/>
            <p:cNvGrpSpPr/>
            <p:nvPr/>
          </p:nvGrpSpPr>
          <p:grpSpPr>
            <a:xfrm>
              <a:off x="11519992" y="324002"/>
              <a:ext cx="3432238" cy="3290405"/>
              <a:chOff x="0" y="0"/>
              <a:chExt cx="3432238" cy="329040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3432302" cy="3290443"/>
              </a:xfrm>
              <a:custGeom>
                <a:avLst/>
                <a:gdLst/>
                <a:ahLst/>
                <a:cxnLst/>
                <a:rect l="l" t="t" r="r" b="b"/>
                <a:pathLst>
                  <a:path w="3432302" h="3290443">
                    <a:moveTo>
                      <a:pt x="0" y="0"/>
                    </a:moveTo>
                    <a:lnTo>
                      <a:pt x="3432302" y="0"/>
                    </a:lnTo>
                    <a:lnTo>
                      <a:pt x="3432302" y="3290443"/>
                    </a:lnTo>
                    <a:lnTo>
                      <a:pt x="0" y="329044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>
                  <a:fillRect t="-127" b="-127"/>
                </a:stretch>
              </a:blipFill>
            </p:spPr>
          </p:sp>
        </p:grpSp>
        <p:grpSp>
          <p:nvGrpSpPr>
            <p:cNvPr id="20" name="Group 20"/>
            <p:cNvGrpSpPr/>
            <p:nvPr/>
          </p:nvGrpSpPr>
          <p:grpSpPr>
            <a:xfrm>
              <a:off x="0" y="374396"/>
              <a:ext cx="5039995" cy="2880004"/>
              <a:chOff x="0" y="0"/>
              <a:chExt cx="5039995" cy="2880004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5039995" cy="2879979"/>
              </a:xfrm>
              <a:custGeom>
                <a:avLst/>
                <a:gdLst/>
                <a:ahLst/>
                <a:cxnLst/>
                <a:rect l="l" t="t" r="r" b="b"/>
                <a:pathLst>
                  <a:path w="5039995" h="2879979">
                    <a:moveTo>
                      <a:pt x="0" y="0"/>
                    </a:moveTo>
                    <a:lnTo>
                      <a:pt x="5039995" y="0"/>
                    </a:lnTo>
                    <a:lnTo>
                      <a:pt x="5039995" y="2879979"/>
                    </a:lnTo>
                    <a:lnTo>
                      <a:pt x="0" y="287997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0"/>
                <a:stretch>
                  <a:fillRect l="-141" r="-141"/>
                </a:stretch>
              </a:blipFill>
            </p:spPr>
          </p:sp>
        </p:grpSp>
      </p:grpSp>
      <p:grpSp>
        <p:nvGrpSpPr>
          <p:cNvPr id="22" name="Group 22"/>
          <p:cNvGrpSpPr/>
          <p:nvPr/>
        </p:nvGrpSpPr>
        <p:grpSpPr>
          <a:xfrm>
            <a:off x="0" y="9534782"/>
            <a:ext cx="18288000" cy="775983"/>
            <a:chOff x="0" y="0"/>
            <a:chExt cx="24384000" cy="1034644"/>
          </a:xfrm>
        </p:grpSpPr>
        <p:grpSp>
          <p:nvGrpSpPr>
            <p:cNvPr id="23" name="Group 23"/>
            <p:cNvGrpSpPr/>
            <p:nvPr/>
          </p:nvGrpSpPr>
          <p:grpSpPr>
            <a:xfrm>
              <a:off x="0" y="0"/>
              <a:ext cx="24382806" cy="1034644"/>
              <a:chOff x="0" y="0"/>
              <a:chExt cx="24382806" cy="1034644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24382857" cy="1034669"/>
              </a:xfrm>
              <a:custGeom>
                <a:avLst/>
                <a:gdLst/>
                <a:ahLst/>
                <a:cxnLst/>
                <a:rect l="l" t="t" r="r" b="b"/>
                <a:pathLst>
                  <a:path w="24382857" h="1034669">
                    <a:moveTo>
                      <a:pt x="0" y="0"/>
                    </a:moveTo>
                    <a:lnTo>
                      <a:pt x="24382857" y="0"/>
                    </a:lnTo>
                    <a:lnTo>
                      <a:pt x="24382857" y="1034669"/>
                    </a:lnTo>
                    <a:lnTo>
                      <a:pt x="0" y="103466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7DEE3"/>
              </a:solidFill>
            </p:spPr>
          </p:sp>
        </p:grpSp>
        <p:grpSp>
          <p:nvGrpSpPr>
            <p:cNvPr id="25" name="Group 25"/>
            <p:cNvGrpSpPr/>
            <p:nvPr/>
          </p:nvGrpSpPr>
          <p:grpSpPr>
            <a:xfrm>
              <a:off x="81839" y="82220"/>
              <a:ext cx="24302161" cy="870204"/>
              <a:chOff x="0" y="0"/>
              <a:chExt cx="24302161" cy="870204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0" y="0"/>
                <a:ext cx="24302155" cy="870207"/>
              </a:xfrm>
              <a:custGeom>
                <a:avLst/>
                <a:gdLst/>
                <a:ahLst/>
                <a:cxnLst/>
                <a:rect l="l" t="t" r="r" b="b"/>
                <a:pathLst>
                  <a:path w="24302155" h="870207">
                    <a:moveTo>
                      <a:pt x="0" y="0"/>
                    </a:moveTo>
                    <a:lnTo>
                      <a:pt x="24302155" y="0"/>
                    </a:lnTo>
                    <a:lnTo>
                      <a:pt x="24302155" y="870207"/>
                    </a:lnTo>
                    <a:lnTo>
                      <a:pt x="0" y="870207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504096" r="-331" b="-487827"/>
                </a:stretch>
              </a:blipFill>
            </p:spPr>
          </p:sp>
          <p:sp>
            <p:nvSpPr>
              <p:cNvPr id="27" name="TextBox 27"/>
              <p:cNvSpPr txBox="1"/>
              <p:nvPr/>
            </p:nvSpPr>
            <p:spPr>
              <a:xfrm>
                <a:off x="0" y="0"/>
                <a:ext cx="24302161" cy="87020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4320"/>
                  </a:lnSpc>
                </a:pPr>
                <a:r>
                  <a:rPr lang="en-US" sz="3600">
                    <a:solidFill>
                      <a:srgbClr val="19415E"/>
                    </a:solidFill>
                    <a:latin typeface="Atkinson Hyperlegible"/>
                    <a:ea typeface="Atkinson Hyperlegible"/>
                    <a:cs typeface="Atkinson Hyperlegible"/>
                    <a:sym typeface="Atkinson Hyperlegible"/>
                  </a:rPr>
                  <a:t>5</a:t>
                </a:r>
              </a:p>
            </p:txBody>
          </p:sp>
        </p:grpSp>
      </p:grp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1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0484" y="157677"/>
            <a:ext cx="1173423" cy="1130760"/>
            <a:chOff x="0" y="0"/>
            <a:chExt cx="1564564" cy="15076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564513" cy="1507617"/>
            </a:xfrm>
            <a:custGeom>
              <a:avLst/>
              <a:gdLst/>
              <a:ahLst/>
              <a:cxnLst/>
              <a:rect l="l" t="t" r="r" b="b"/>
              <a:pathLst>
                <a:path w="1564513" h="1507617">
                  <a:moveTo>
                    <a:pt x="0" y="0"/>
                  </a:moveTo>
                  <a:lnTo>
                    <a:pt x="1564513" y="0"/>
                  </a:lnTo>
                  <a:lnTo>
                    <a:pt x="1564513" y="1507617"/>
                  </a:lnTo>
                  <a:lnTo>
                    <a:pt x="0" y="15076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45" r="-48" b="-4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1257119" y="191833"/>
            <a:ext cx="15772324" cy="1987200"/>
            <a:chOff x="0" y="0"/>
            <a:chExt cx="21029765" cy="26496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029760" cy="2649599"/>
            </a:xfrm>
            <a:custGeom>
              <a:avLst/>
              <a:gdLst/>
              <a:ahLst/>
              <a:cxnLst/>
              <a:rect l="l" t="t" r="r" b="b"/>
              <a:pathLst>
                <a:path w="21029760" h="2649599">
                  <a:moveTo>
                    <a:pt x="0" y="0"/>
                  </a:moveTo>
                  <a:lnTo>
                    <a:pt x="21029760" y="0"/>
                  </a:lnTo>
                  <a:lnTo>
                    <a:pt x="21029760" y="2649599"/>
                  </a:lnTo>
                  <a:lnTo>
                    <a:pt x="0" y="264959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4651" b="-104652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57150"/>
              <a:ext cx="21029765" cy="25924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832"/>
                </a:lnSpc>
              </a:pPr>
              <a:r>
                <a:rPr lang="en-US" sz="5400">
                  <a:solidFill>
                    <a:srgbClr val="4F86C6"/>
                  </a:solidFill>
                  <a:latin typeface="Atkinson Hyperlegible"/>
                  <a:ea typeface="Atkinson Hyperlegible"/>
                  <a:cs typeface="Atkinson Hyperlegible"/>
                  <a:sym typeface="Atkinson Hyperlegible"/>
                </a:rPr>
                <a:t>Структура проекта, clean architecture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0" y="8766362"/>
            <a:ext cx="18287105" cy="652653"/>
            <a:chOff x="0" y="0"/>
            <a:chExt cx="24382806" cy="87020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4382800" cy="870207"/>
            </a:xfrm>
            <a:custGeom>
              <a:avLst/>
              <a:gdLst/>
              <a:ahLst/>
              <a:cxnLst/>
              <a:rect l="l" t="t" r="r" b="b"/>
              <a:pathLst>
                <a:path w="24382800" h="870207">
                  <a:moveTo>
                    <a:pt x="0" y="0"/>
                  </a:moveTo>
                  <a:lnTo>
                    <a:pt x="24382800" y="0"/>
                  </a:lnTo>
                  <a:lnTo>
                    <a:pt x="24382800" y="870207"/>
                  </a:lnTo>
                  <a:lnTo>
                    <a:pt x="0" y="87020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04096" b="-487827"/>
              </a:stretch>
            </a:blipFill>
          </p:spPr>
        </p:sp>
        <p:sp>
          <p:nvSpPr>
            <p:cNvPr id="9" name="TextBox 9"/>
            <p:cNvSpPr txBox="1"/>
            <p:nvPr/>
          </p:nvSpPr>
          <p:spPr>
            <a:xfrm>
              <a:off x="0" y="0"/>
              <a:ext cx="24382806" cy="87020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19415E"/>
                  </a:solidFill>
                  <a:latin typeface="Atkinson Hyperlegible"/>
                  <a:ea typeface="Atkinson Hyperlegible"/>
                  <a:cs typeface="Atkinson Hyperlegible"/>
                  <a:sym typeface="Atkinson Hyperlegible"/>
                </a:rPr>
                <a:t>3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2160003" y="1584629"/>
            <a:ext cx="14600828" cy="7950153"/>
            <a:chOff x="0" y="0"/>
            <a:chExt cx="18720003" cy="1019304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8720054" cy="10193020"/>
            </a:xfrm>
            <a:custGeom>
              <a:avLst/>
              <a:gdLst/>
              <a:ahLst/>
              <a:cxnLst/>
              <a:rect l="l" t="t" r="r" b="b"/>
              <a:pathLst>
                <a:path w="18720054" h="10193020">
                  <a:moveTo>
                    <a:pt x="0" y="0"/>
                  </a:moveTo>
                  <a:lnTo>
                    <a:pt x="18720054" y="0"/>
                  </a:lnTo>
                  <a:lnTo>
                    <a:pt x="18720054" y="10193020"/>
                  </a:lnTo>
                  <a:lnTo>
                    <a:pt x="0" y="101930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160" b="-160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0" y="9534782"/>
            <a:ext cx="18288000" cy="775983"/>
            <a:chOff x="0" y="0"/>
            <a:chExt cx="24384000" cy="1034644"/>
          </a:xfrm>
        </p:grpSpPr>
        <p:grpSp>
          <p:nvGrpSpPr>
            <p:cNvPr id="13" name="Group 13"/>
            <p:cNvGrpSpPr/>
            <p:nvPr/>
          </p:nvGrpSpPr>
          <p:grpSpPr>
            <a:xfrm>
              <a:off x="0" y="0"/>
              <a:ext cx="24382806" cy="1034644"/>
              <a:chOff x="0" y="0"/>
              <a:chExt cx="24382806" cy="1034644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24382857" cy="1034669"/>
              </a:xfrm>
              <a:custGeom>
                <a:avLst/>
                <a:gdLst/>
                <a:ahLst/>
                <a:cxnLst/>
                <a:rect l="l" t="t" r="r" b="b"/>
                <a:pathLst>
                  <a:path w="24382857" h="1034669">
                    <a:moveTo>
                      <a:pt x="0" y="0"/>
                    </a:moveTo>
                    <a:lnTo>
                      <a:pt x="24382857" y="0"/>
                    </a:lnTo>
                    <a:lnTo>
                      <a:pt x="24382857" y="1034669"/>
                    </a:lnTo>
                    <a:lnTo>
                      <a:pt x="0" y="103466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7DEE3"/>
              </a:solidFill>
            </p:spPr>
          </p:sp>
        </p:grpSp>
        <p:grpSp>
          <p:nvGrpSpPr>
            <p:cNvPr id="15" name="Group 15"/>
            <p:cNvGrpSpPr/>
            <p:nvPr/>
          </p:nvGrpSpPr>
          <p:grpSpPr>
            <a:xfrm>
              <a:off x="81839" y="82220"/>
              <a:ext cx="24302161" cy="870204"/>
              <a:chOff x="0" y="0"/>
              <a:chExt cx="24302161" cy="870204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24302155" cy="870207"/>
              </a:xfrm>
              <a:custGeom>
                <a:avLst/>
                <a:gdLst/>
                <a:ahLst/>
                <a:cxnLst/>
                <a:rect l="l" t="t" r="r" b="b"/>
                <a:pathLst>
                  <a:path w="24302155" h="870207">
                    <a:moveTo>
                      <a:pt x="0" y="0"/>
                    </a:moveTo>
                    <a:lnTo>
                      <a:pt x="24302155" y="0"/>
                    </a:lnTo>
                    <a:lnTo>
                      <a:pt x="24302155" y="870207"/>
                    </a:lnTo>
                    <a:lnTo>
                      <a:pt x="0" y="870207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504096" r="-331" b="-487827"/>
                </a:stretch>
              </a:blipFill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0" y="0"/>
                <a:ext cx="24302161" cy="87020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4320"/>
                  </a:lnSpc>
                </a:pPr>
                <a:r>
                  <a:rPr lang="en-US" sz="3600">
                    <a:solidFill>
                      <a:srgbClr val="19415E"/>
                    </a:solidFill>
                    <a:latin typeface="Atkinson Hyperlegible"/>
                    <a:ea typeface="Atkinson Hyperlegible"/>
                    <a:cs typeface="Atkinson Hyperlegible"/>
                    <a:sym typeface="Atkinson Hyperlegible"/>
                  </a:rPr>
                  <a:t>6</a:t>
                </a:r>
              </a:p>
            </p:txBody>
          </p:sp>
        </p:grpSp>
      </p:grp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1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0484" y="157677"/>
            <a:ext cx="1173423" cy="1130760"/>
            <a:chOff x="0" y="0"/>
            <a:chExt cx="1564564" cy="15076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564513" cy="1507617"/>
            </a:xfrm>
            <a:custGeom>
              <a:avLst/>
              <a:gdLst/>
              <a:ahLst/>
              <a:cxnLst/>
              <a:rect l="l" t="t" r="r" b="b"/>
              <a:pathLst>
                <a:path w="1564513" h="1507617">
                  <a:moveTo>
                    <a:pt x="0" y="0"/>
                  </a:moveTo>
                  <a:lnTo>
                    <a:pt x="1564513" y="0"/>
                  </a:lnTo>
                  <a:lnTo>
                    <a:pt x="1564513" y="1507617"/>
                  </a:lnTo>
                  <a:lnTo>
                    <a:pt x="0" y="15076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45" r="-48" b="-4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1237136" y="172260"/>
            <a:ext cx="15772324" cy="1987200"/>
            <a:chOff x="0" y="0"/>
            <a:chExt cx="21029765" cy="26496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029760" cy="2649599"/>
            </a:xfrm>
            <a:custGeom>
              <a:avLst/>
              <a:gdLst/>
              <a:ahLst/>
              <a:cxnLst/>
              <a:rect l="l" t="t" r="r" b="b"/>
              <a:pathLst>
                <a:path w="21029760" h="2649599">
                  <a:moveTo>
                    <a:pt x="0" y="0"/>
                  </a:moveTo>
                  <a:lnTo>
                    <a:pt x="21029760" y="0"/>
                  </a:lnTo>
                  <a:lnTo>
                    <a:pt x="21029760" y="2649599"/>
                  </a:lnTo>
                  <a:lnTo>
                    <a:pt x="0" y="264959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4651" b="-104652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76200"/>
              <a:ext cx="21029765" cy="2573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480"/>
                </a:lnSpc>
              </a:pPr>
              <a:r>
                <a:rPr lang="en-US" sz="6000">
                  <a:solidFill>
                    <a:srgbClr val="4F86C6"/>
                  </a:solidFill>
                  <a:latin typeface="IBM Plex Sans Thai Looped"/>
                  <a:ea typeface="IBM Plex Sans Thai Looped"/>
                  <a:cs typeface="IBM Plex Sans Thai Looped"/>
                  <a:sym typeface="IBM Plex Sans Thai Looped"/>
                </a:rPr>
                <a:t>ДИАГРАММА ПОТОКОВ ДАННЫХ</a:t>
              </a:r>
            </a:p>
          </p:txBody>
        </p:sp>
      </p:grpSp>
      <p:sp>
        <p:nvSpPr>
          <p:cNvPr id="7" name="Freeform 7"/>
          <p:cNvSpPr/>
          <p:nvPr/>
        </p:nvSpPr>
        <p:spPr>
          <a:xfrm>
            <a:off x="0" y="1836305"/>
            <a:ext cx="18410830" cy="6673926"/>
          </a:xfrm>
          <a:custGeom>
            <a:avLst/>
            <a:gdLst/>
            <a:ahLst/>
            <a:cxnLst/>
            <a:rect l="l" t="t" r="r" b="b"/>
            <a:pathLst>
              <a:path w="18410830" h="6673926">
                <a:moveTo>
                  <a:pt x="0" y="0"/>
                </a:moveTo>
                <a:lnTo>
                  <a:pt x="18410830" y="0"/>
                </a:lnTo>
                <a:lnTo>
                  <a:pt x="18410830" y="6673926"/>
                </a:lnTo>
                <a:lnTo>
                  <a:pt x="0" y="667392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0" y="9534782"/>
            <a:ext cx="18288000" cy="775983"/>
            <a:chOff x="0" y="0"/>
            <a:chExt cx="24384000" cy="1034644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0"/>
              <a:ext cx="24382806" cy="1034644"/>
              <a:chOff x="0" y="0"/>
              <a:chExt cx="24382806" cy="1034644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24382857" cy="1034669"/>
              </a:xfrm>
              <a:custGeom>
                <a:avLst/>
                <a:gdLst/>
                <a:ahLst/>
                <a:cxnLst/>
                <a:rect l="l" t="t" r="r" b="b"/>
                <a:pathLst>
                  <a:path w="24382857" h="1034669">
                    <a:moveTo>
                      <a:pt x="0" y="0"/>
                    </a:moveTo>
                    <a:lnTo>
                      <a:pt x="24382857" y="0"/>
                    </a:lnTo>
                    <a:lnTo>
                      <a:pt x="24382857" y="1034669"/>
                    </a:lnTo>
                    <a:lnTo>
                      <a:pt x="0" y="103466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7DEE3"/>
              </a:solidFill>
            </p:spPr>
          </p:sp>
        </p:grpSp>
        <p:grpSp>
          <p:nvGrpSpPr>
            <p:cNvPr id="11" name="Group 11"/>
            <p:cNvGrpSpPr/>
            <p:nvPr/>
          </p:nvGrpSpPr>
          <p:grpSpPr>
            <a:xfrm>
              <a:off x="81839" y="82220"/>
              <a:ext cx="24302161" cy="870204"/>
              <a:chOff x="0" y="0"/>
              <a:chExt cx="24302161" cy="87020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24302155" cy="870207"/>
              </a:xfrm>
              <a:custGeom>
                <a:avLst/>
                <a:gdLst/>
                <a:ahLst/>
                <a:cxnLst/>
                <a:rect l="l" t="t" r="r" b="b"/>
                <a:pathLst>
                  <a:path w="24302155" h="870207">
                    <a:moveTo>
                      <a:pt x="0" y="0"/>
                    </a:moveTo>
                    <a:lnTo>
                      <a:pt x="24302155" y="0"/>
                    </a:lnTo>
                    <a:lnTo>
                      <a:pt x="24302155" y="870207"/>
                    </a:lnTo>
                    <a:lnTo>
                      <a:pt x="0" y="870207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504096" r="-331" b="-487827"/>
                </a:stretch>
              </a:blipFill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24302161" cy="87020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4320"/>
                  </a:lnSpc>
                </a:pPr>
                <a:r>
                  <a:rPr lang="en-US" sz="3600">
                    <a:solidFill>
                      <a:srgbClr val="19415E"/>
                    </a:solidFill>
                    <a:latin typeface="Atkinson Hyperlegible"/>
                    <a:ea typeface="Atkinson Hyperlegible"/>
                    <a:cs typeface="Atkinson Hyperlegible"/>
                    <a:sym typeface="Atkinson Hyperlegible"/>
                  </a:rPr>
                  <a:t>7</a:t>
                </a:r>
              </a:p>
            </p:txBody>
          </p:sp>
        </p:grpSp>
      </p:grp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1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0484" y="157677"/>
            <a:ext cx="1173423" cy="1130760"/>
            <a:chOff x="0" y="0"/>
            <a:chExt cx="1564564" cy="15076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564513" cy="1507617"/>
            </a:xfrm>
            <a:custGeom>
              <a:avLst/>
              <a:gdLst/>
              <a:ahLst/>
              <a:cxnLst/>
              <a:rect l="l" t="t" r="r" b="b"/>
              <a:pathLst>
                <a:path w="1564513" h="1507617">
                  <a:moveTo>
                    <a:pt x="0" y="0"/>
                  </a:moveTo>
                  <a:lnTo>
                    <a:pt x="1564513" y="0"/>
                  </a:lnTo>
                  <a:lnTo>
                    <a:pt x="1564513" y="1507617"/>
                  </a:lnTo>
                  <a:lnTo>
                    <a:pt x="0" y="15076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45" r="-48" b="-4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1257119" y="385562"/>
            <a:ext cx="15772324" cy="1987200"/>
            <a:chOff x="0" y="0"/>
            <a:chExt cx="21029765" cy="26496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029760" cy="2649599"/>
            </a:xfrm>
            <a:custGeom>
              <a:avLst/>
              <a:gdLst/>
              <a:ahLst/>
              <a:cxnLst/>
              <a:rect l="l" t="t" r="r" b="b"/>
              <a:pathLst>
                <a:path w="21029760" h="2649599">
                  <a:moveTo>
                    <a:pt x="0" y="0"/>
                  </a:moveTo>
                  <a:lnTo>
                    <a:pt x="21029760" y="0"/>
                  </a:lnTo>
                  <a:lnTo>
                    <a:pt x="21029760" y="2649599"/>
                  </a:lnTo>
                  <a:lnTo>
                    <a:pt x="0" y="264959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4651" b="-104652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76200"/>
              <a:ext cx="21029765" cy="2573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480"/>
                </a:lnSpc>
              </a:pPr>
              <a:r>
                <a:rPr lang="en-US" sz="6000">
                  <a:solidFill>
                    <a:srgbClr val="4F86C6"/>
                  </a:solidFill>
                  <a:latin typeface="IBM Plex Sans Thai Looped"/>
                  <a:ea typeface="IBM Plex Sans Thai Looped"/>
                  <a:cs typeface="IBM Plex Sans Thai Looped"/>
                  <a:sym typeface="IBM Plex Sans Thai Looped"/>
                </a:rPr>
                <a:t>ГАРАНТИИ ДОСТАВКИ СООБЩЕНИЙ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508140" y="2160003"/>
            <a:ext cx="8671855" cy="4128297"/>
            <a:chOff x="0" y="0"/>
            <a:chExt cx="11562474" cy="5504396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1562461" cy="5504434"/>
            </a:xfrm>
            <a:custGeom>
              <a:avLst/>
              <a:gdLst/>
              <a:ahLst/>
              <a:cxnLst/>
              <a:rect l="l" t="t" r="r" b="b"/>
              <a:pathLst>
                <a:path w="11562461" h="5504434">
                  <a:moveTo>
                    <a:pt x="0" y="0"/>
                  </a:moveTo>
                  <a:lnTo>
                    <a:pt x="11562461" y="0"/>
                  </a:lnTo>
                  <a:lnTo>
                    <a:pt x="11562461" y="5504434"/>
                  </a:lnTo>
                  <a:lnTo>
                    <a:pt x="0" y="55044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19" b="-19"/>
              </a:stretch>
            </a:blipFill>
          </p:spPr>
        </p:sp>
      </p:grpSp>
      <p:sp>
        <p:nvSpPr>
          <p:cNvPr id="9" name="TextBox 9"/>
          <p:cNvSpPr txBox="1"/>
          <p:nvPr/>
        </p:nvSpPr>
        <p:spPr>
          <a:xfrm>
            <a:off x="630003" y="6644345"/>
            <a:ext cx="14351100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События в БД отражают исключительно прошедшие операции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30003" y="7335002"/>
            <a:ext cx="13852979" cy="895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87"/>
              </a:lnSpc>
            </a:pPr>
            <a:r>
              <a:rPr lang="en-US" sz="2989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Прогресс чтения подтверждается явно — только после исхода обработки сообщения.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30536" y="7335536"/>
            <a:ext cx="13852979" cy="895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87"/>
              </a:lnSpc>
            </a:pPr>
            <a:r>
              <a:rPr lang="en-US" sz="2989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Прогресс чтения подтверждается явно — только после исхода обработки сообщения.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30003" y="8283778"/>
            <a:ext cx="12673211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Семантика обработки в текущем контуре — at least once.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809998" y="2745000"/>
            <a:ext cx="5448002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Ack от лидера партиции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809998" y="3825002"/>
            <a:ext cx="7767439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Ключ для стабилизации партиции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809998" y="4905004"/>
            <a:ext cx="7650004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Проблема повторной доставки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0" y="9534782"/>
            <a:ext cx="18288000" cy="775983"/>
            <a:chOff x="0" y="0"/>
            <a:chExt cx="24384000" cy="1034644"/>
          </a:xfrm>
        </p:grpSpPr>
        <p:grpSp>
          <p:nvGrpSpPr>
            <p:cNvPr id="17" name="Group 17"/>
            <p:cNvGrpSpPr/>
            <p:nvPr/>
          </p:nvGrpSpPr>
          <p:grpSpPr>
            <a:xfrm>
              <a:off x="0" y="0"/>
              <a:ext cx="24382806" cy="1034644"/>
              <a:chOff x="0" y="0"/>
              <a:chExt cx="24382806" cy="1034644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24382857" cy="1034669"/>
              </a:xfrm>
              <a:custGeom>
                <a:avLst/>
                <a:gdLst/>
                <a:ahLst/>
                <a:cxnLst/>
                <a:rect l="l" t="t" r="r" b="b"/>
                <a:pathLst>
                  <a:path w="24382857" h="1034669">
                    <a:moveTo>
                      <a:pt x="0" y="0"/>
                    </a:moveTo>
                    <a:lnTo>
                      <a:pt x="24382857" y="0"/>
                    </a:lnTo>
                    <a:lnTo>
                      <a:pt x="24382857" y="1034669"/>
                    </a:lnTo>
                    <a:lnTo>
                      <a:pt x="0" y="103466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7DEE3"/>
              </a:solidFill>
            </p:spPr>
          </p:sp>
        </p:grpSp>
        <p:grpSp>
          <p:nvGrpSpPr>
            <p:cNvPr id="19" name="Group 19"/>
            <p:cNvGrpSpPr/>
            <p:nvPr/>
          </p:nvGrpSpPr>
          <p:grpSpPr>
            <a:xfrm>
              <a:off x="81839" y="82220"/>
              <a:ext cx="24302161" cy="870204"/>
              <a:chOff x="0" y="0"/>
              <a:chExt cx="24302161" cy="870204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0"/>
                <a:ext cx="24302155" cy="870207"/>
              </a:xfrm>
              <a:custGeom>
                <a:avLst/>
                <a:gdLst/>
                <a:ahLst/>
                <a:cxnLst/>
                <a:rect l="l" t="t" r="r" b="b"/>
                <a:pathLst>
                  <a:path w="24302155" h="870207">
                    <a:moveTo>
                      <a:pt x="0" y="0"/>
                    </a:moveTo>
                    <a:lnTo>
                      <a:pt x="24302155" y="0"/>
                    </a:lnTo>
                    <a:lnTo>
                      <a:pt x="24302155" y="870207"/>
                    </a:lnTo>
                    <a:lnTo>
                      <a:pt x="0" y="870207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504096" r="-331" b="-487827"/>
                </a:stretch>
              </a:blipFill>
            </p:spPr>
          </p:sp>
          <p:sp>
            <p:nvSpPr>
              <p:cNvPr id="21" name="TextBox 21"/>
              <p:cNvSpPr txBox="1"/>
              <p:nvPr/>
            </p:nvSpPr>
            <p:spPr>
              <a:xfrm>
                <a:off x="0" y="0"/>
                <a:ext cx="24302161" cy="87020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4320"/>
                  </a:lnSpc>
                </a:pPr>
                <a:r>
                  <a:rPr lang="en-US" sz="3600">
                    <a:solidFill>
                      <a:srgbClr val="19415E"/>
                    </a:solidFill>
                    <a:latin typeface="Atkinson Hyperlegible"/>
                    <a:ea typeface="Atkinson Hyperlegible"/>
                    <a:cs typeface="Atkinson Hyperlegible"/>
                    <a:sym typeface="Atkinson Hyperlegible"/>
                  </a:rPr>
                  <a:t>8</a:t>
                </a:r>
              </a:p>
            </p:txBody>
          </p:sp>
        </p:grpSp>
      </p:grp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1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0484" y="157677"/>
            <a:ext cx="1173423" cy="1130760"/>
            <a:chOff x="0" y="0"/>
            <a:chExt cx="1564564" cy="15076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564513" cy="1507617"/>
            </a:xfrm>
            <a:custGeom>
              <a:avLst/>
              <a:gdLst/>
              <a:ahLst/>
              <a:cxnLst/>
              <a:rect l="l" t="t" r="r" b="b"/>
              <a:pathLst>
                <a:path w="1564513" h="1507617">
                  <a:moveTo>
                    <a:pt x="0" y="0"/>
                  </a:moveTo>
                  <a:lnTo>
                    <a:pt x="1564513" y="0"/>
                  </a:lnTo>
                  <a:lnTo>
                    <a:pt x="1564513" y="1507617"/>
                  </a:lnTo>
                  <a:lnTo>
                    <a:pt x="0" y="15076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45" r="-48" b="-4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1257119" y="385562"/>
            <a:ext cx="15772324" cy="1987200"/>
            <a:chOff x="0" y="0"/>
            <a:chExt cx="21029765" cy="26496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029760" cy="2649599"/>
            </a:xfrm>
            <a:custGeom>
              <a:avLst/>
              <a:gdLst/>
              <a:ahLst/>
              <a:cxnLst/>
              <a:rect l="l" t="t" r="r" b="b"/>
              <a:pathLst>
                <a:path w="21029760" h="2649599">
                  <a:moveTo>
                    <a:pt x="0" y="0"/>
                  </a:moveTo>
                  <a:lnTo>
                    <a:pt x="21029760" y="0"/>
                  </a:lnTo>
                  <a:lnTo>
                    <a:pt x="21029760" y="2649599"/>
                  </a:lnTo>
                  <a:lnTo>
                    <a:pt x="0" y="264959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4651" b="-104652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76200"/>
              <a:ext cx="21029765" cy="2573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480"/>
                </a:lnSpc>
              </a:pPr>
              <a:r>
                <a:rPr lang="en-US" sz="6000">
                  <a:solidFill>
                    <a:srgbClr val="4F86C6"/>
                  </a:solidFill>
                  <a:latin typeface="IBM Plex Sans Thai Looped"/>
                  <a:ea typeface="IBM Plex Sans Thai Looped"/>
                  <a:cs typeface="IBM Plex Sans Thai Looped"/>
                  <a:sym typeface="IBM Plex Sans Thai Looped"/>
                </a:rPr>
                <a:t>ИДЕМПОТЕТНОСТЬ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028700" y="2711096"/>
            <a:ext cx="7560002" cy="2770737"/>
            <a:chOff x="0" y="0"/>
            <a:chExt cx="10080003" cy="3694316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0079990" cy="3694303"/>
            </a:xfrm>
            <a:custGeom>
              <a:avLst/>
              <a:gdLst/>
              <a:ahLst/>
              <a:cxnLst/>
              <a:rect l="l" t="t" r="r" b="b"/>
              <a:pathLst>
                <a:path w="10079990" h="3694303">
                  <a:moveTo>
                    <a:pt x="0" y="0"/>
                  </a:moveTo>
                  <a:lnTo>
                    <a:pt x="10079990" y="0"/>
                  </a:lnTo>
                  <a:lnTo>
                    <a:pt x="10079990" y="3694303"/>
                  </a:lnTo>
                  <a:lnTo>
                    <a:pt x="0" y="36943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33" r="-33"/>
              </a:stretch>
            </a:blipFill>
          </p:spPr>
        </p:sp>
      </p:grpSp>
      <p:sp>
        <p:nvSpPr>
          <p:cNvPr id="9" name="TextBox 9"/>
          <p:cNvSpPr txBox="1"/>
          <p:nvPr/>
        </p:nvSpPr>
        <p:spPr>
          <a:xfrm>
            <a:off x="630003" y="6634820"/>
            <a:ext cx="13852979" cy="1352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27"/>
              </a:lnSpc>
            </a:pPr>
            <a:r>
              <a:rPr lang="en-US" sz="2939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Идемпотентность — это способность сервиса корректно обрабатывать дубликаты сообщений без ошибок, изменения функционала и побочных эффектов для системы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09998" y="2735475"/>
            <a:ext cx="6839998" cy="476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07"/>
              </a:lnSpc>
            </a:pPr>
            <a:r>
              <a:rPr lang="en-US" sz="3089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Журнал обработанных сообщений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809998" y="3825002"/>
            <a:ext cx="8032155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Уникальный ключ записи в журнал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809998" y="4905004"/>
            <a:ext cx="7650004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DLQ и replay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30003" y="8174698"/>
            <a:ext cx="14351596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Цель — не запретить повторы сообщений, а предусмотреть их 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0" y="9534782"/>
            <a:ext cx="18288000" cy="775983"/>
            <a:chOff x="0" y="0"/>
            <a:chExt cx="24384000" cy="1034644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24382806" cy="1034644"/>
              <a:chOff x="0" y="0"/>
              <a:chExt cx="24382806" cy="1034644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24382857" cy="1034669"/>
              </a:xfrm>
              <a:custGeom>
                <a:avLst/>
                <a:gdLst/>
                <a:ahLst/>
                <a:cxnLst/>
                <a:rect l="l" t="t" r="r" b="b"/>
                <a:pathLst>
                  <a:path w="24382857" h="1034669">
                    <a:moveTo>
                      <a:pt x="0" y="0"/>
                    </a:moveTo>
                    <a:lnTo>
                      <a:pt x="24382857" y="0"/>
                    </a:lnTo>
                    <a:lnTo>
                      <a:pt x="24382857" y="1034669"/>
                    </a:lnTo>
                    <a:lnTo>
                      <a:pt x="0" y="103466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7DEE3"/>
              </a:solidFill>
            </p:spPr>
          </p:sp>
        </p:grpSp>
        <p:grpSp>
          <p:nvGrpSpPr>
            <p:cNvPr id="17" name="Group 17"/>
            <p:cNvGrpSpPr/>
            <p:nvPr/>
          </p:nvGrpSpPr>
          <p:grpSpPr>
            <a:xfrm>
              <a:off x="81839" y="82220"/>
              <a:ext cx="24302161" cy="870204"/>
              <a:chOff x="0" y="0"/>
              <a:chExt cx="24302161" cy="870204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24302155" cy="870207"/>
              </a:xfrm>
              <a:custGeom>
                <a:avLst/>
                <a:gdLst/>
                <a:ahLst/>
                <a:cxnLst/>
                <a:rect l="l" t="t" r="r" b="b"/>
                <a:pathLst>
                  <a:path w="24302155" h="870207">
                    <a:moveTo>
                      <a:pt x="0" y="0"/>
                    </a:moveTo>
                    <a:lnTo>
                      <a:pt x="24302155" y="0"/>
                    </a:lnTo>
                    <a:lnTo>
                      <a:pt x="24302155" y="870207"/>
                    </a:lnTo>
                    <a:lnTo>
                      <a:pt x="0" y="870207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504096" r="-331" b="-487827"/>
                </a:stretch>
              </a:blipFill>
            </p:spPr>
          </p:sp>
          <p:sp>
            <p:nvSpPr>
              <p:cNvPr id="19" name="TextBox 19"/>
              <p:cNvSpPr txBox="1"/>
              <p:nvPr/>
            </p:nvSpPr>
            <p:spPr>
              <a:xfrm>
                <a:off x="0" y="0"/>
                <a:ext cx="24302161" cy="87020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4320"/>
                  </a:lnSpc>
                </a:pPr>
                <a:r>
                  <a:rPr lang="en-US" sz="3600">
                    <a:solidFill>
                      <a:srgbClr val="19415E"/>
                    </a:solidFill>
                    <a:latin typeface="Atkinson Hyperlegible"/>
                    <a:ea typeface="Atkinson Hyperlegible"/>
                    <a:cs typeface="Atkinson Hyperlegible"/>
                    <a:sym typeface="Atkinson Hyperlegible"/>
                  </a:rPr>
                  <a:t>9</a:t>
                </a:r>
              </a:p>
            </p:txBody>
          </p:sp>
        </p:grpSp>
      </p:grp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1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0484" y="157677"/>
            <a:ext cx="1173423" cy="1130760"/>
            <a:chOff x="0" y="0"/>
            <a:chExt cx="1564564" cy="15076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564513" cy="1507617"/>
            </a:xfrm>
            <a:custGeom>
              <a:avLst/>
              <a:gdLst/>
              <a:ahLst/>
              <a:cxnLst/>
              <a:rect l="l" t="t" r="r" b="b"/>
              <a:pathLst>
                <a:path w="1564513" h="1507617">
                  <a:moveTo>
                    <a:pt x="0" y="0"/>
                  </a:moveTo>
                  <a:lnTo>
                    <a:pt x="1564513" y="0"/>
                  </a:lnTo>
                  <a:lnTo>
                    <a:pt x="1564513" y="1507617"/>
                  </a:lnTo>
                  <a:lnTo>
                    <a:pt x="0" y="15076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45" r="-48" b="-4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1257119" y="61560"/>
            <a:ext cx="15772324" cy="1987200"/>
            <a:chOff x="0" y="0"/>
            <a:chExt cx="21029765" cy="26496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029760" cy="2649599"/>
            </a:xfrm>
            <a:custGeom>
              <a:avLst/>
              <a:gdLst/>
              <a:ahLst/>
              <a:cxnLst/>
              <a:rect l="l" t="t" r="r" b="b"/>
              <a:pathLst>
                <a:path w="21029760" h="2649599">
                  <a:moveTo>
                    <a:pt x="0" y="0"/>
                  </a:moveTo>
                  <a:lnTo>
                    <a:pt x="21029760" y="0"/>
                  </a:lnTo>
                  <a:lnTo>
                    <a:pt x="21029760" y="2649599"/>
                  </a:lnTo>
                  <a:lnTo>
                    <a:pt x="0" y="264959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4651" b="-104652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57150"/>
              <a:ext cx="21029765" cy="25924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832"/>
                </a:lnSpc>
              </a:pPr>
              <a:r>
                <a:rPr lang="en-US" sz="5400">
                  <a:solidFill>
                    <a:srgbClr val="4F86C6"/>
                  </a:solidFill>
                  <a:latin typeface="Atkinson Hyperlegible"/>
                  <a:ea typeface="Atkinson Hyperlegible"/>
                  <a:cs typeface="Atkinson Hyperlegible"/>
                  <a:sym typeface="Atkinson Hyperlegible"/>
                </a:rPr>
                <a:t>DLQ: отдельный топик для сбоев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540001" y="1405623"/>
            <a:ext cx="8369999" cy="7444445"/>
            <a:chOff x="0" y="0"/>
            <a:chExt cx="11159998" cy="9925926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1159998" cy="9925939"/>
            </a:xfrm>
            <a:custGeom>
              <a:avLst/>
              <a:gdLst/>
              <a:ahLst/>
              <a:cxnLst/>
              <a:rect l="l" t="t" r="r" b="b"/>
              <a:pathLst>
                <a:path w="11159998" h="9925939">
                  <a:moveTo>
                    <a:pt x="0" y="0"/>
                  </a:moveTo>
                  <a:lnTo>
                    <a:pt x="11159998" y="0"/>
                  </a:lnTo>
                  <a:lnTo>
                    <a:pt x="11159998" y="9925939"/>
                  </a:lnTo>
                  <a:lnTo>
                    <a:pt x="0" y="9925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37" r="-37"/>
              </a:stretch>
            </a:blipFill>
          </p:spPr>
        </p:sp>
      </p:grpSp>
      <p:sp>
        <p:nvSpPr>
          <p:cNvPr id="9" name="TextBox 9"/>
          <p:cNvSpPr txBox="1"/>
          <p:nvPr/>
        </p:nvSpPr>
        <p:spPr>
          <a:xfrm>
            <a:off x="9809998" y="2395623"/>
            <a:ext cx="6544568" cy="476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67"/>
              </a:lnSpc>
            </a:pPr>
            <a:r>
              <a:rPr lang="en-US" sz="3139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Изоляция «опасных» сообщений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09998" y="4041000"/>
            <a:ext cx="7366000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Оповещение при росте очереди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809998" y="4905004"/>
            <a:ext cx="7650004" cy="466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77"/>
              </a:lnSpc>
            </a:pPr>
            <a:r>
              <a:rPr lang="en-US" sz="3064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Не восстанавливаемые бизнес-ошибки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809998" y="5890698"/>
            <a:ext cx="7650004" cy="2628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30"/>
              </a:lnSpc>
            </a:pPr>
            <a:r>
              <a:rPr lang="en-US" sz="3442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Требуется механизм повторной подачи сообщения в основной топик после устранения причины сбоя, зафиксированной в DLQ</a:t>
            </a:r>
          </a:p>
          <a:p>
            <a:pPr algn="l">
              <a:lnSpc>
                <a:spcPts val="4130"/>
              </a:lnSpc>
            </a:pPr>
            <a:endParaRPr lang="en-US" sz="3442">
              <a:solidFill>
                <a:srgbClr val="19415E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9809998" y="3205620"/>
            <a:ext cx="6824861" cy="476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67"/>
              </a:lnSpc>
            </a:pPr>
            <a:r>
              <a:rPr lang="en-US" sz="3139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Сохраняется контекст для разбора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0" y="9534782"/>
            <a:ext cx="18288000" cy="775983"/>
            <a:chOff x="0" y="0"/>
            <a:chExt cx="24384000" cy="1034644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24382806" cy="1034644"/>
              <a:chOff x="0" y="0"/>
              <a:chExt cx="24382806" cy="1034644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24382857" cy="1034669"/>
              </a:xfrm>
              <a:custGeom>
                <a:avLst/>
                <a:gdLst/>
                <a:ahLst/>
                <a:cxnLst/>
                <a:rect l="l" t="t" r="r" b="b"/>
                <a:pathLst>
                  <a:path w="24382857" h="1034669">
                    <a:moveTo>
                      <a:pt x="0" y="0"/>
                    </a:moveTo>
                    <a:lnTo>
                      <a:pt x="24382857" y="0"/>
                    </a:lnTo>
                    <a:lnTo>
                      <a:pt x="24382857" y="1034669"/>
                    </a:lnTo>
                    <a:lnTo>
                      <a:pt x="0" y="103466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7DEE3"/>
              </a:solidFill>
            </p:spPr>
          </p:sp>
        </p:grpSp>
        <p:grpSp>
          <p:nvGrpSpPr>
            <p:cNvPr id="17" name="Group 17"/>
            <p:cNvGrpSpPr/>
            <p:nvPr/>
          </p:nvGrpSpPr>
          <p:grpSpPr>
            <a:xfrm>
              <a:off x="81839" y="82220"/>
              <a:ext cx="24302161" cy="870204"/>
              <a:chOff x="0" y="0"/>
              <a:chExt cx="24302161" cy="870204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24302155" cy="870207"/>
              </a:xfrm>
              <a:custGeom>
                <a:avLst/>
                <a:gdLst/>
                <a:ahLst/>
                <a:cxnLst/>
                <a:rect l="l" t="t" r="r" b="b"/>
                <a:pathLst>
                  <a:path w="24302155" h="870207">
                    <a:moveTo>
                      <a:pt x="0" y="0"/>
                    </a:moveTo>
                    <a:lnTo>
                      <a:pt x="24302155" y="0"/>
                    </a:lnTo>
                    <a:lnTo>
                      <a:pt x="24302155" y="870207"/>
                    </a:lnTo>
                    <a:lnTo>
                      <a:pt x="0" y="870207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504096" r="-331" b="-487827"/>
                </a:stretch>
              </a:blipFill>
            </p:spPr>
          </p:sp>
          <p:sp>
            <p:nvSpPr>
              <p:cNvPr id="19" name="TextBox 19"/>
              <p:cNvSpPr txBox="1"/>
              <p:nvPr/>
            </p:nvSpPr>
            <p:spPr>
              <a:xfrm>
                <a:off x="0" y="0"/>
                <a:ext cx="24302161" cy="87020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4320"/>
                  </a:lnSpc>
                </a:pPr>
                <a:r>
                  <a:rPr lang="en-US" sz="3600">
                    <a:solidFill>
                      <a:srgbClr val="19415E"/>
                    </a:solidFill>
                    <a:latin typeface="Atkinson Hyperlegible"/>
                    <a:ea typeface="Atkinson Hyperlegible"/>
                    <a:cs typeface="Atkinson Hyperlegible"/>
                    <a:sym typeface="Atkinson Hyperlegible"/>
                  </a:rPr>
                  <a:t>10</a:t>
                </a:r>
              </a:p>
            </p:txBody>
          </p:sp>
        </p:grpSp>
      </p:grp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1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0484" y="157677"/>
            <a:ext cx="1173423" cy="1130760"/>
            <a:chOff x="0" y="0"/>
            <a:chExt cx="1564564" cy="15076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564513" cy="1507617"/>
            </a:xfrm>
            <a:custGeom>
              <a:avLst/>
              <a:gdLst/>
              <a:ahLst/>
              <a:cxnLst/>
              <a:rect l="l" t="t" r="r" b="b"/>
              <a:pathLst>
                <a:path w="1564513" h="1507617">
                  <a:moveTo>
                    <a:pt x="0" y="0"/>
                  </a:moveTo>
                  <a:lnTo>
                    <a:pt x="1564513" y="0"/>
                  </a:lnTo>
                  <a:lnTo>
                    <a:pt x="1564513" y="1507617"/>
                  </a:lnTo>
                  <a:lnTo>
                    <a:pt x="0" y="15076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45" r="-48" b="-4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1257119" y="61560"/>
            <a:ext cx="16832875" cy="1987200"/>
            <a:chOff x="0" y="0"/>
            <a:chExt cx="22443834" cy="26496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2443839" cy="2649599"/>
            </a:xfrm>
            <a:custGeom>
              <a:avLst/>
              <a:gdLst/>
              <a:ahLst/>
              <a:cxnLst/>
              <a:rect l="l" t="t" r="r" b="b"/>
              <a:pathLst>
                <a:path w="22443839" h="2649599">
                  <a:moveTo>
                    <a:pt x="0" y="0"/>
                  </a:moveTo>
                  <a:lnTo>
                    <a:pt x="22443839" y="0"/>
                  </a:lnTo>
                  <a:lnTo>
                    <a:pt x="22443839" y="2649599"/>
                  </a:lnTo>
                  <a:lnTo>
                    <a:pt x="0" y="264959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15050" b="-115051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57150"/>
              <a:ext cx="22443834" cy="25924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832"/>
                </a:lnSpc>
              </a:pPr>
              <a:r>
                <a:rPr lang="en-US" sz="5400">
                  <a:solidFill>
                    <a:srgbClr val="4F86C6"/>
                  </a:solidFill>
                  <a:latin typeface="Atkinson Hyperlegible"/>
                  <a:ea typeface="Atkinson Hyperlegible"/>
                  <a:cs typeface="Atkinson Hyperlegible"/>
                  <a:sym typeface="Atkinson Hyperlegible"/>
                </a:rPr>
                <a:t>Механизм повторной подачи в основной топик</a:t>
              </a:r>
            </a:p>
            <a:p>
              <a:pPr algn="l">
                <a:lnSpc>
                  <a:spcPts val="5832"/>
                </a:lnSpc>
              </a:pPr>
              <a:endParaRPr lang="en-US" sz="5400">
                <a:solidFill>
                  <a:srgbClr val="4F86C6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endParaRP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319678" y="1349997"/>
            <a:ext cx="9130322" cy="5237998"/>
            <a:chOff x="0" y="0"/>
            <a:chExt cx="12173763" cy="698399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2173712" cy="6983984"/>
            </a:xfrm>
            <a:custGeom>
              <a:avLst/>
              <a:gdLst/>
              <a:ahLst/>
              <a:cxnLst/>
              <a:rect l="l" t="t" r="r" b="b"/>
              <a:pathLst>
                <a:path w="12173712" h="6983984">
                  <a:moveTo>
                    <a:pt x="0" y="0"/>
                  </a:moveTo>
                  <a:lnTo>
                    <a:pt x="12173712" y="0"/>
                  </a:lnTo>
                  <a:lnTo>
                    <a:pt x="12173712" y="6983984"/>
                  </a:lnTo>
                  <a:lnTo>
                    <a:pt x="0" y="69839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4" b="-4"/>
              </a:stretch>
            </a:blipFill>
          </p:spPr>
        </p:sp>
      </p:grpSp>
      <p:sp>
        <p:nvSpPr>
          <p:cNvPr id="9" name="TextBox 9"/>
          <p:cNvSpPr txBox="1"/>
          <p:nvPr/>
        </p:nvSpPr>
        <p:spPr>
          <a:xfrm>
            <a:off x="9809998" y="2395623"/>
            <a:ext cx="7375128" cy="476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67"/>
              </a:lnSpc>
            </a:pPr>
            <a:r>
              <a:rPr lang="en-US" sz="3139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Отдельный процесс, не косьюмер api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09998" y="4527004"/>
            <a:ext cx="7650004" cy="895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87"/>
              </a:lnSpc>
            </a:pPr>
            <a:r>
              <a:rPr lang="en-US" sz="2989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Возможен запуск отдельно, по решению человека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809998" y="3205620"/>
            <a:ext cx="7650004" cy="895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87"/>
              </a:lnSpc>
            </a:pPr>
            <a:r>
              <a:rPr lang="en-US" sz="2989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Возможность пакетной обработки сообщений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30536" y="6933238"/>
            <a:ext cx="13852979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64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Механизм читает DLQ, вытаскивает данные транзакции и снова записывает ее в основной топик с нужным ключем, после чего подтвеждает offset.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0" y="9534782"/>
            <a:ext cx="18288000" cy="775983"/>
            <a:chOff x="0" y="0"/>
            <a:chExt cx="24384000" cy="1034644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0"/>
              <a:ext cx="24382806" cy="1034644"/>
              <a:chOff x="0" y="0"/>
              <a:chExt cx="24382806" cy="1034644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24382857" cy="1034669"/>
              </a:xfrm>
              <a:custGeom>
                <a:avLst/>
                <a:gdLst/>
                <a:ahLst/>
                <a:cxnLst/>
                <a:rect l="l" t="t" r="r" b="b"/>
                <a:pathLst>
                  <a:path w="24382857" h="1034669">
                    <a:moveTo>
                      <a:pt x="0" y="0"/>
                    </a:moveTo>
                    <a:lnTo>
                      <a:pt x="24382857" y="0"/>
                    </a:lnTo>
                    <a:lnTo>
                      <a:pt x="24382857" y="1034669"/>
                    </a:lnTo>
                    <a:lnTo>
                      <a:pt x="0" y="103466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7DEE3"/>
              </a:solidFill>
            </p:spPr>
          </p:sp>
        </p:grpSp>
        <p:grpSp>
          <p:nvGrpSpPr>
            <p:cNvPr id="16" name="Group 16"/>
            <p:cNvGrpSpPr/>
            <p:nvPr/>
          </p:nvGrpSpPr>
          <p:grpSpPr>
            <a:xfrm>
              <a:off x="81839" y="82220"/>
              <a:ext cx="24302161" cy="870204"/>
              <a:chOff x="0" y="0"/>
              <a:chExt cx="24302161" cy="870204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24302155" cy="870207"/>
              </a:xfrm>
              <a:custGeom>
                <a:avLst/>
                <a:gdLst/>
                <a:ahLst/>
                <a:cxnLst/>
                <a:rect l="l" t="t" r="r" b="b"/>
                <a:pathLst>
                  <a:path w="24302155" h="870207">
                    <a:moveTo>
                      <a:pt x="0" y="0"/>
                    </a:moveTo>
                    <a:lnTo>
                      <a:pt x="24302155" y="0"/>
                    </a:lnTo>
                    <a:lnTo>
                      <a:pt x="24302155" y="870207"/>
                    </a:lnTo>
                    <a:lnTo>
                      <a:pt x="0" y="870207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504096" r="-331" b="-487827"/>
                </a:stretch>
              </a:blipFill>
            </p:spPr>
          </p:sp>
          <p:sp>
            <p:nvSpPr>
              <p:cNvPr id="18" name="TextBox 18"/>
              <p:cNvSpPr txBox="1"/>
              <p:nvPr/>
            </p:nvSpPr>
            <p:spPr>
              <a:xfrm>
                <a:off x="0" y="0"/>
                <a:ext cx="24302161" cy="87020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4320"/>
                  </a:lnSpc>
                </a:pPr>
                <a:r>
                  <a:rPr lang="en-US" sz="3600">
                    <a:solidFill>
                      <a:srgbClr val="19415E"/>
                    </a:solidFill>
                    <a:latin typeface="Atkinson Hyperlegible"/>
                    <a:ea typeface="Atkinson Hyperlegible"/>
                    <a:cs typeface="Atkinson Hyperlegible"/>
                    <a:sym typeface="Atkinson Hyperlegible"/>
                  </a:rPr>
                  <a:t>11</a:t>
                </a:r>
              </a:p>
            </p:txBody>
          </p:sp>
        </p:grpSp>
      </p:grp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1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0484" y="157677"/>
            <a:ext cx="1173423" cy="1130760"/>
            <a:chOff x="0" y="0"/>
            <a:chExt cx="1564564" cy="15076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564513" cy="1507617"/>
            </a:xfrm>
            <a:custGeom>
              <a:avLst/>
              <a:gdLst/>
              <a:ahLst/>
              <a:cxnLst/>
              <a:rect l="l" t="t" r="r" b="b"/>
              <a:pathLst>
                <a:path w="1564513" h="1507617">
                  <a:moveTo>
                    <a:pt x="0" y="0"/>
                  </a:moveTo>
                  <a:lnTo>
                    <a:pt x="1564513" y="0"/>
                  </a:lnTo>
                  <a:lnTo>
                    <a:pt x="1564513" y="1507617"/>
                  </a:lnTo>
                  <a:lnTo>
                    <a:pt x="0" y="15076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45" r="-48" b="-4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1257119" y="223561"/>
            <a:ext cx="15772324" cy="1987200"/>
            <a:chOff x="0" y="0"/>
            <a:chExt cx="21029765" cy="26496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029760" cy="2649599"/>
            </a:xfrm>
            <a:custGeom>
              <a:avLst/>
              <a:gdLst/>
              <a:ahLst/>
              <a:cxnLst/>
              <a:rect l="l" t="t" r="r" b="b"/>
              <a:pathLst>
                <a:path w="21029760" h="2649599">
                  <a:moveTo>
                    <a:pt x="0" y="0"/>
                  </a:moveTo>
                  <a:lnTo>
                    <a:pt x="21029760" y="0"/>
                  </a:lnTo>
                  <a:lnTo>
                    <a:pt x="21029760" y="2649599"/>
                  </a:lnTo>
                  <a:lnTo>
                    <a:pt x="0" y="264959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4651" b="-104652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76200"/>
              <a:ext cx="21029765" cy="2573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480"/>
                </a:lnSpc>
              </a:pPr>
              <a:r>
                <a:rPr lang="en-US" sz="6000">
                  <a:solidFill>
                    <a:srgbClr val="4F86C6"/>
                  </a:solidFill>
                  <a:latin typeface="IBM Plex Sans Thai Looped"/>
                  <a:ea typeface="IBM Plex Sans Thai Looped"/>
                  <a:cs typeface="IBM Plex Sans Thai Looped"/>
                  <a:sym typeface="IBM Plex Sans Thai Looped"/>
                </a:rPr>
                <a:t> ТЕСТИРОВАНИЕ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0" y="9534782"/>
            <a:ext cx="18288000" cy="775983"/>
            <a:chOff x="0" y="0"/>
            <a:chExt cx="24384000" cy="1034644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24382806" cy="1034644"/>
              <a:chOff x="0" y="0"/>
              <a:chExt cx="24382806" cy="1034644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24382857" cy="1034669"/>
              </a:xfrm>
              <a:custGeom>
                <a:avLst/>
                <a:gdLst/>
                <a:ahLst/>
                <a:cxnLst/>
                <a:rect l="l" t="t" r="r" b="b"/>
                <a:pathLst>
                  <a:path w="24382857" h="1034669">
                    <a:moveTo>
                      <a:pt x="0" y="0"/>
                    </a:moveTo>
                    <a:lnTo>
                      <a:pt x="24382857" y="0"/>
                    </a:lnTo>
                    <a:lnTo>
                      <a:pt x="24382857" y="1034669"/>
                    </a:lnTo>
                    <a:lnTo>
                      <a:pt x="0" y="103466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7DEE3"/>
              </a:solidFill>
            </p:spPr>
          </p:sp>
        </p:grpSp>
        <p:grpSp>
          <p:nvGrpSpPr>
            <p:cNvPr id="10" name="Group 10"/>
            <p:cNvGrpSpPr/>
            <p:nvPr/>
          </p:nvGrpSpPr>
          <p:grpSpPr>
            <a:xfrm>
              <a:off x="81839" y="82220"/>
              <a:ext cx="24302161" cy="870204"/>
              <a:chOff x="0" y="0"/>
              <a:chExt cx="24302161" cy="870204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24302155" cy="870207"/>
              </a:xfrm>
              <a:custGeom>
                <a:avLst/>
                <a:gdLst/>
                <a:ahLst/>
                <a:cxnLst/>
                <a:rect l="l" t="t" r="r" b="b"/>
                <a:pathLst>
                  <a:path w="24302155" h="870207">
                    <a:moveTo>
                      <a:pt x="0" y="0"/>
                    </a:moveTo>
                    <a:lnTo>
                      <a:pt x="24302155" y="0"/>
                    </a:lnTo>
                    <a:lnTo>
                      <a:pt x="24302155" y="870207"/>
                    </a:lnTo>
                    <a:lnTo>
                      <a:pt x="0" y="870207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504096" r="-331" b="-487827"/>
                </a:stretch>
              </a:blipFill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0" y="0"/>
                <a:ext cx="24302161" cy="87020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4320"/>
                  </a:lnSpc>
                </a:pPr>
                <a:r>
                  <a:rPr lang="en-US" sz="3600">
                    <a:solidFill>
                      <a:srgbClr val="19415E"/>
                    </a:solidFill>
                    <a:latin typeface="Atkinson Hyperlegible"/>
                    <a:ea typeface="Atkinson Hyperlegible"/>
                    <a:cs typeface="Atkinson Hyperlegible"/>
                    <a:sym typeface="Atkinson Hyperlegible"/>
                  </a:rPr>
                  <a:t>12</a:t>
                </a:r>
              </a:p>
            </p:txBody>
          </p:sp>
        </p:grpSp>
      </p:grpSp>
      <p:grpSp>
        <p:nvGrpSpPr>
          <p:cNvPr id="14" name="Group 14"/>
          <p:cNvGrpSpPr/>
          <p:nvPr/>
        </p:nvGrpSpPr>
        <p:grpSpPr>
          <a:xfrm>
            <a:off x="10009982" y="2134561"/>
            <a:ext cx="6674155" cy="6960311"/>
            <a:chOff x="0" y="0"/>
            <a:chExt cx="8898873" cy="9280415"/>
          </a:xfrm>
        </p:grpSpPr>
        <p:sp>
          <p:nvSpPr>
            <p:cNvPr id="15" name="Freeform 15"/>
            <p:cNvSpPr/>
            <p:nvPr/>
          </p:nvSpPr>
          <p:spPr>
            <a:xfrm>
              <a:off x="0" y="949398"/>
              <a:ext cx="8898873" cy="4173461"/>
            </a:xfrm>
            <a:custGeom>
              <a:avLst/>
              <a:gdLst/>
              <a:ahLst/>
              <a:cxnLst/>
              <a:rect l="l" t="t" r="r" b="b"/>
              <a:pathLst>
                <a:path w="8898873" h="4173461">
                  <a:moveTo>
                    <a:pt x="0" y="0"/>
                  </a:moveTo>
                  <a:lnTo>
                    <a:pt x="8898873" y="0"/>
                  </a:lnTo>
                  <a:lnTo>
                    <a:pt x="8898873" y="4173462"/>
                  </a:lnTo>
                  <a:lnTo>
                    <a:pt x="0" y="41734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640" b="-640"/>
              </a:stretch>
            </a:blipFill>
          </p:spPr>
        </p:sp>
        <p:sp>
          <p:nvSpPr>
            <p:cNvPr id="16" name="Freeform 16"/>
            <p:cNvSpPr/>
            <p:nvPr/>
          </p:nvSpPr>
          <p:spPr>
            <a:xfrm>
              <a:off x="3656" y="5064588"/>
              <a:ext cx="8895217" cy="4215827"/>
            </a:xfrm>
            <a:custGeom>
              <a:avLst/>
              <a:gdLst/>
              <a:ahLst/>
              <a:cxnLst/>
              <a:rect l="l" t="t" r="r" b="b"/>
              <a:pathLst>
                <a:path w="8895217" h="4215827">
                  <a:moveTo>
                    <a:pt x="0" y="0"/>
                  </a:moveTo>
                  <a:lnTo>
                    <a:pt x="8895217" y="0"/>
                  </a:lnTo>
                  <a:lnTo>
                    <a:pt x="8895217" y="4215827"/>
                  </a:lnTo>
                  <a:lnTo>
                    <a:pt x="0" y="42158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1993" r="-2674" b="-1993"/>
              </a:stretch>
            </a:blipFill>
          </p:spPr>
        </p:sp>
        <p:sp>
          <p:nvSpPr>
            <p:cNvPr id="17" name="Freeform 17"/>
            <p:cNvSpPr/>
            <p:nvPr/>
          </p:nvSpPr>
          <p:spPr>
            <a:xfrm>
              <a:off x="0" y="0"/>
              <a:ext cx="8898873" cy="949398"/>
            </a:xfrm>
            <a:custGeom>
              <a:avLst/>
              <a:gdLst/>
              <a:ahLst/>
              <a:cxnLst/>
              <a:rect l="l" t="t" r="r" b="b"/>
              <a:pathLst>
                <a:path w="8898873" h="949398">
                  <a:moveTo>
                    <a:pt x="0" y="0"/>
                  </a:moveTo>
                  <a:lnTo>
                    <a:pt x="8898873" y="0"/>
                  </a:lnTo>
                  <a:lnTo>
                    <a:pt x="8898873" y="949398"/>
                  </a:lnTo>
                  <a:lnTo>
                    <a:pt x="0" y="9493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618" r="-31119" b="-618"/>
              </a:stretch>
            </a:blipFill>
          </p:spPr>
        </p:sp>
      </p:grp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9D7FBA17-670C-D98E-E77C-7C1355A866E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29814" y="2134561"/>
            <a:ext cx="7942786" cy="6988621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1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0484" y="157677"/>
            <a:ext cx="1173423" cy="1130760"/>
            <a:chOff x="0" y="0"/>
            <a:chExt cx="1564564" cy="15076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564513" cy="1507617"/>
            </a:xfrm>
            <a:custGeom>
              <a:avLst/>
              <a:gdLst/>
              <a:ahLst/>
              <a:cxnLst/>
              <a:rect l="l" t="t" r="r" b="b"/>
              <a:pathLst>
                <a:path w="1564513" h="1507617">
                  <a:moveTo>
                    <a:pt x="0" y="0"/>
                  </a:moveTo>
                  <a:lnTo>
                    <a:pt x="1564513" y="0"/>
                  </a:lnTo>
                  <a:lnTo>
                    <a:pt x="1564513" y="1507617"/>
                  </a:lnTo>
                  <a:lnTo>
                    <a:pt x="0" y="15076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45" r="-48" b="-4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1257119" y="547564"/>
            <a:ext cx="15772324" cy="1987200"/>
            <a:chOff x="0" y="0"/>
            <a:chExt cx="21029765" cy="26496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029760" cy="2649599"/>
            </a:xfrm>
            <a:custGeom>
              <a:avLst/>
              <a:gdLst/>
              <a:ahLst/>
              <a:cxnLst/>
              <a:rect l="l" t="t" r="r" b="b"/>
              <a:pathLst>
                <a:path w="21029760" h="2649599">
                  <a:moveTo>
                    <a:pt x="0" y="0"/>
                  </a:moveTo>
                  <a:lnTo>
                    <a:pt x="21029760" y="0"/>
                  </a:lnTo>
                  <a:lnTo>
                    <a:pt x="21029760" y="2649599"/>
                  </a:lnTo>
                  <a:lnTo>
                    <a:pt x="0" y="264959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4651" b="-104652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76200"/>
              <a:ext cx="21029765" cy="2573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480"/>
                </a:lnSpc>
              </a:pPr>
              <a:r>
                <a:rPr lang="en-US" sz="6000">
                  <a:solidFill>
                    <a:srgbClr val="4F86C6"/>
                  </a:solidFill>
                  <a:latin typeface="IBM Plex Sans Thai Looped"/>
                  <a:ea typeface="IBM Plex Sans Thai Looped"/>
                  <a:cs typeface="IBM Plex Sans Thai Looped"/>
                  <a:sym typeface="IBM Plex Sans Thai Looped"/>
                </a:rPr>
                <a:t>ЗАКЛЮЧЕНИЕ </a:t>
              </a:r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331824" y="2634044"/>
            <a:ext cx="15606179" cy="40464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36"/>
              </a:lnSpc>
            </a:pPr>
            <a:r>
              <a:rPr lang="ru-RU" sz="4200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Спроектирован и реализован сервис приёма, хранения и обработки финансовых транзакций. Решение объединяет HTTP API, </a:t>
            </a:r>
            <a:r>
              <a:rPr lang="ru-RU" sz="4200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PostgreSQL</a:t>
            </a:r>
            <a:r>
              <a:rPr lang="ru-RU" sz="4200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и асинхронный </a:t>
            </a:r>
            <a:r>
              <a:rPr lang="ru-RU" sz="4200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Kafka</a:t>
            </a:r>
            <a:r>
              <a:rPr lang="ru-RU" sz="4200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-контур. Для обеспечения надёжности и мониторинга реализованы дедупликация, DLQ, повторная обработка, метрики и дашборды </a:t>
            </a:r>
            <a:r>
              <a:rPr lang="ru-RU" sz="4200" dirty="0" err="1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Grafana</a:t>
            </a:r>
            <a:r>
              <a:rPr lang="ru-RU" sz="4200" dirty="0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.</a:t>
            </a:r>
            <a:endParaRPr lang="en-US" sz="4200" dirty="0">
              <a:solidFill>
                <a:srgbClr val="19415E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algn="l">
              <a:lnSpc>
                <a:spcPts val="4536"/>
              </a:lnSpc>
            </a:pPr>
            <a:endParaRPr lang="en-US" sz="4200" dirty="0">
              <a:solidFill>
                <a:srgbClr val="19415E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grpSp>
        <p:nvGrpSpPr>
          <p:cNvPr id="8" name="Group 8"/>
          <p:cNvGrpSpPr/>
          <p:nvPr/>
        </p:nvGrpSpPr>
        <p:grpSpPr>
          <a:xfrm>
            <a:off x="14173381" y="0"/>
            <a:ext cx="4113724" cy="652653"/>
            <a:chOff x="0" y="0"/>
            <a:chExt cx="5484965" cy="870204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484960" cy="870207"/>
            </a:xfrm>
            <a:custGeom>
              <a:avLst/>
              <a:gdLst/>
              <a:ahLst/>
              <a:cxnLst/>
              <a:rect l="l" t="t" r="r" b="b"/>
              <a:pathLst>
                <a:path w="5484960" h="870207">
                  <a:moveTo>
                    <a:pt x="0" y="0"/>
                  </a:moveTo>
                  <a:lnTo>
                    <a:pt x="5484960" y="0"/>
                  </a:lnTo>
                  <a:lnTo>
                    <a:pt x="5484960" y="870207"/>
                  </a:lnTo>
                  <a:lnTo>
                    <a:pt x="0" y="87020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0949" b="-64681"/>
              </a:stretch>
            </a:blipFill>
          </p:spPr>
        </p:sp>
        <p:sp>
          <p:nvSpPr>
            <p:cNvPr id="10" name="TextBox 10"/>
            <p:cNvSpPr txBox="1"/>
            <p:nvPr/>
          </p:nvSpPr>
          <p:spPr>
            <a:xfrm>
              <a:off x="0" y="0"/>
              <a:ext cx="5484965" cy="87020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4320"/>
                </a:lnSpc>
              </a:pPr>
              <a:r>
                <a:rPr lang="en-US" sz="3600">
                  <a:solidFill>
                    <a:srgbClr val="19415E"/>
                  </a:solidFill>
                  <a:latin typeface="Atkinson Hyperlegible"/>
                  <a:ea typeface="Atkinson Hyperlegible"/>
                  <a:cs typeface="Atkinson Hyperlegible"/>
                  <a:sym typeface="Atkinson Hyperlegible"/>
                </a:rPr>
                <a:t>15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0" y="9534782"/>
            <a:ext cx="18288000" cy="775983"/>
            <a:chOff x="0" y="0"/>
            <a:chExt cx="24384000" cy="1034644"/>
          </a:xfrm>
        </p:grpSpPr>
        <p:grpSp>
          <p:nvGrpSpPr>
            <p:cNvPr id="12" name="Group 12"/>
            <p:cNvGrpSpPr/>
            <p:nvPr/>
          </p:nvGrpSpPr>
          <p:grpSpPr>
            <a:xfrm>
              <a:off x="0" y="0"/>
              <a:ext cx="24382806" cy="1034644"/>
              <a:chOff x="0" y="0"/>
              <a:chExt cx="24382806" cy="1034644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24382857" cy="1034669"/>
              </a:xfrm>
              <a:custGeom>
                <a:avLst/>
                <a:gdLst/>
                <a:ahLst/>
                <a:cxnLst/>
                <a:rect l="l" t="t" r="r" b="b"/>
                <a:pathLst>
                  <a:path w="24382857" h="1034669">
                    <a:moveTo>
                      <a:pt x="0" y="0"/>
                    </a:moveTo>
                    <a:lnTo>
                      <a:pt x="24382857" y="0"/>
                    </a:lnTo>
                    <a:lnTo>
                      <a:pt x="24382857" y="1034669"/>
                    </a:lnTo>
                    <a:lnTo>
                      <a:pt x="0" y="103466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7DEE3"/>
              </a:solidFill>
            </p:spPr>
          </p:sp>
        </p:grpSp>
        <p:grpSp>
          <p:nvGrpSpPr>
            <p:cNvPr id="14" name="Group 14"/>
            <p:cNvGrpSpPr/>
            <p:nvPr/>
          </p:nvGrpSpPr>
          <p:grpSpPr>
            <a:xfrm>
              <a:off x="81839" y="82220"/>
              <a:ext cx="24302161" cy="870204"/>
              <a:chOff x="0" y="0"/>
              <a:chExt cx="24302161" cy="870204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24302155" cy="870207"/>
              </a:xfrm>
              <a:custGeom>
                <a:avLst/>
                <a:gdLst/>
                <a:ahLst/>
                <a:cxnLst/>
                <a:rect l="l" t="t" r="r" b="b"/>
                <a:pathLst>
                  <a:path w="24302155" h="870207">
                    <a:moveTo>
                      <a:pt x="0" y="0"/>
                    </a:moveTo>
                    <a:lnTo>
                      <a:pt x="24302155" y="0"/>
                    </a:lnTo>
                    <a:lnTo>
                      <a:pt x="24302155" y="870207"/>
                    </a:lnTo>
                    <a:lnTo>
                      <a:pt x="0" y="870207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504096" r="-331" b="-487827"/>
                </a:stretch>
              </a:blipFill>
            </p:spPr>
          </p:sp>
          <p:sp>
            <p:nvSpPr>
              <p:cNvPr id="16" name="TextBox 16"/>
              <p:cNvSpPr txBox="1"/>
              <p:nvPr/>
            </p:nvSpPr>
            <p:spPr>
              <a:xfrm>
                <a:off x="0" y="0"/>
                <a:ext cx="24302161" cy="87020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4320"/>
                  </a:lnSpc>
                </a:pPr>
                <a:r>
                  <a:rPr lang="en-US" sz="3600">
                    <a:solidFill>
                      <a:srgbClr val="19415E"/>
                    </a:solidFill>
                    <a:latin typeface="Atkinson Hyperlegible"/>
                    <a:ea typeface="Atkinson Hyperlegible"/>
                    <a:cs typeface="Atkinson Hyperlegible"/>
                    <a:sym typeface="Atkinson Hyperlegible"/>
                  </a:rPr>
                  <a:t>13</a:t>
                </a:r>
              </a:p>
            </p:txBody>
          </p:sp>
        </p:grpSp>
      </p:grp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1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0484" y="157677"/>
            <a:ext cx="1173423" cy="1130760"/>
            <a:chOff x="0" y="0"/>
            <a:chExt cx="1564564" cy="15076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564513" cy="1507617"/>
            </a:xfrm>
            <a:custGeom>
              <a:avLst/>
              <a:gdLst/>
              <a:ahLst/>
              <a:cxnLst/>
              <a:rect l="l" t="t" r="r" b="b"/>
              <a:pathLst>
                <a:path w="1564513" h="1507617">
                  <a:moveTo>
                    <a:pt x="0" y="0"/>
                  </a:moveTo>
                  <a:lnTo>
                    <a:pt x="1564513" y="0"/>
                  </a:lnTo>
                  <a:lnTo>
                    <a:pt x="1564513" y="1507617"/>
                  </a:lnTo>
                  <a:lnTo>
                    <a:pt x="0" y="15076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45" r="-48" b="-4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1257119" y="547564"/>
            <a:ext cx="15772324" cy="1987200"/>
            <a:chOff x="0" y="0"/>
            <a:chExt cx="21029765" cy="26496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029760" cy="2649599"/>
            </a:xfrm>
            <a:custGeom>
              <a:avLst/>
              <a:gdLst/>
              <a:ahLst/>
              <a:cxnLst/>
              <a:rect l="l" t="t" r="r" b="b"/>
              <a:pathLst>
                <a:path w="21029760" h="2649599">
                  <a:moveTo>
                    <a:pt x="0" y="0"/>
                  </a:moveTo>
                  <a:lnTo>
                    <a:pt x="21029760" y="0"/>
                  </a:lnTo>
                  <a:lnTo>
                    <a:pt x="21029760" y="2649599"/>
                  </a:lnTo>
                  <a:lnTo>
                    <a:pt x="0" y="264959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4651" b="-104652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76200"/>
              <a:ext cx="21029765" cy="2573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480"/>
                </a:lnSpc>
              </a:pPr>
              <a:r>
                <a:rPr lang="en-US" sz="6000">
                  <a:solidFill>
                    <a:srgbClr val="4F86C6"/>
                  </a:solidFill>
                  <a:latin typeface="IBM Plex Sans Thai Looped"/>
                  <a:ea typeface="IBM Plex Sans Thai Looped"/>
                  <a:cs typeface="IBM Plex Sans Thai Looped"/>
                  <a:sym typeface="IBM Plex Sans Thai Looped"/>
                </a:rPr>
                <a:t>ИСТОЧНИКИ</a:t>
              </a:r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331824" y="2634044"/>
            <a:ext cx="15606179" cy="65286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26841" lvl="1" indent="-363420" algn="l">
              <a:lnSpc>
                <a:spcPts val="4337"/>
              </a:lnSpc>
              <a:buFont typeface="Arial"/>
              <a:buChar char="•"/>
            </a:pPr>
            <a:r>
              <a:rPr lang="en-US" sz="4016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Приемы объектно-оориентированного проектирования. –URL: https://stilsoft.ru/download/catalog/pdf/polnoe-opisanie-322323.pdf (дата обращения 13.04.2026)</a:t>
            </a:r>
          </a:p>
          <a:p>
            <a:pPr marL="726841" lvl="1" indent="-363420" algn="l">
              <a:lnSpc>
                <a:spcPts val="4337"/>
              </a:lnSpc>
              <a:buFont typeface="Arial"/>
              <a:buChar char="•"/>
            </a:pPr>
            <a:r>
              <a:rPr lang="en-US" sz="4016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Таненбаум Э. С., Бос Х. Современные операционные системы –URL: </a:t>
            </a:r>
            <a:r>
              <a:rPr lang="en-US" sz="4016" u="sng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http://lib.ysu.am/disciplines_bk/bc520563d6ed0e7c880969b3e0c9d9cf.pdf</a:t>
            </a:r>
            <a:r>
              <a:rPr lang="en-US" sz="4016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(дата обращения 12.04.2026).</a:t>
            </a:r>
          </a:p>
          <a:p>
            <a:pPr marL="726841" lvl="1" indent="-363420" algn="l">
              <a:lnSpc>
                <a:spcPts val="4337"/>
              </a:lnSpc>
              <a:buFont typeface="Arial"/>
              <a:buChar char="•"/>
            </a:pPr>
            <a:r>
              <a:rPr lang="en-US" sz="4016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Кормен Т. Х., Лейзерсон Ч. Э.,  Алгоритмы: построение и анализ  –URL: http://www.r-5.org/files/books/computers/algo-list/common/Cormen_Leiserson_Rivest_Stein-Introduction_to_Algorithms-RU.pdf</a:t>
            </a:r>
            <a:r>
              <a:rPr lang="en-US" sz="4016" u="sng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4016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(дата обращения 12.04.2026).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14173381" y="0"/>
            <a:ext cx="4113724" cy="652653"/>
            <a:chOff x="0" y="0"/>
            <a:chExt cx="5484965" cy="870204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484960" cy="870207"/>
            </a:xfrm>
            <a:custGeom>
              <a:avLst/>
              <a:gdLst/>
              <a:ahLst/>
              <a:cxnLst/>
              <a:rect l="l" t="t" r="r" b="b"/>
              <a:pathLst>
                <a:path w="5484960" h="870207">
                  <a:moveTo>
                    <a:pt x="0" y="0"/>
                  </a:moveTo>
                  <a:lnTo>
                    <a:pt x="5484960" y="0"/>
                  </a:lnTo>
                  <a:lnTo>
                    <a:pt x="5484960" y="870207"/>
                  </a:lnTo>
                  <a:lnTo>
                    <a:pt x="0" y="87020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0949" b="-64681"/>
              </a:stretch>
            </a:blipFill>
          </p:spPr>
        </p:sp>
        <p:sp>
          <p:nvSpPr>
            <p:cNvPr id="10" name="TextBox 10"/>
            <p:cNvSpPr txBox="1"/>
            <p:nvPr/>
          </p:nvSpPr>
          <p:spPr>
            <a:xfrm>
              <a:off x="0" y="0"/>
              <a:ext cx="5484965" cy="87020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4320"/>
                </a:lnSpc>
              </a:pPr>
              <a:r>
                <a:rPr lang="en-US" sz="3600">
                  <a:solidFill>
                    <a:srgbClr val="3E759D"/>
                  </a:solidFill>
                  <a:latin typeface="Atkinson Hyperlegible"/>
                  <a:ea typeface="Atkinson Hyperlegible"/>
                  <a:cs typeface="Atkinson Hyperlegible"/>
                  <a:sym typeface="Atkinson Hyperlegible"/>
                </a:rPr>
                <a:t>16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0" y="9534782"/>
            <a:ext cx="18288000" cy="775983"/>
            <a:chOff x="0" y="0"/>
            <a:chExt cx="24384000" cy="1034644"/>
          </a:xfrm>
        </p:grpSpPr>
        <p:grpSp>
          <p:nvGrpSpPr>
            <p:cNvPr id="12" name="Group 12"/>
            <p:cNvGrpSpPr/>
            <p:nvPr/>
          </p:nvGrpSpPr>
          <p:grpSpPr>
            <a:xfrm>
              <a:off x="0" y="0"/>
              <a:ext cx="24382806" cy="1034644"/>
              <a:chOff x="0" y="0"/>
              <a:chExt cx="24382806" cy="1034644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24382857" cy="1034669"/>
              </a:xfrm>
              <a:custGeom>
                <a:avLst/>
                <a:gdLst/>
                <a:ahLst/>
                <a:cxnLst/>
                <a:rect l="l" t="t" r="r" b="b"/>
                <a:pathLst>
                  <a:path w="24382857" h="1034669">
                    <a:moveTo>
                      <a:pt x="0" y="0"/>
                    </a:moveTo>
                    <a:lnTo>
                      <a:pt x="24382857" y="0"/>
                    </a:lnTo>
                    <a:lnTo>
                      <a:pt x="24382857" y="1034669"/>
                    </a:lnTo>
                    <a:lnTo>
                      <a:pt x="0" y="103466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7DEE3"/>
              </a:solidFill>
            </p:spPr>
          </p:sp>
        </p:grpSp>
        <p:grpSp>
          <p:nvGrpSpPr>
            <p:cNvPr id="14" name="Group 14"/>
            <p:cNvGrpSpPr/>
            <p:nvPr/>
          </p:nvGrpSpPr>
          <p:grpSpPr>
            <a:xfrm>
              <a:off x="81839" y="82220"/>
              <a:ext cx="24302161" cy="870204"/>
              <a:chOff x="0" y="0"/>
              <a:chExt cx="24302161" cy="870204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24302155" cy="870207"/>
              </a:xfrm>
              <a:custGeom>
                <a:avLst/>
                <a:gdLst/>
                <a:ahLst/>
                <a:cxnLst/>
                <a:rect l="l" t="t" r="r" b="b"/>
                <a:pathLst>
                  <a:path w="24302155" h="870207">
                    <a:moveTo>
                      <a:pt x="0" y="0"/>
                    </a:moveTo>
                    <a:lnTo>
                      <a:pt x="24302155" y="0"/>
                    </a:lnTo>
                    <a:lnTo>
                      <a:pt x="24302155" y="870207"/>
                    </a:lnTo>
                    <a:lnTo>
                      <a:pt x="0" y="870207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504096" r="-331" b="-487827"/>
                </a:stretch>
              </a:blipFill>
            </p:spPr>
          </p:sp>
          <p:sp>
            <p:nvSpPr>
              <p:cNvPr id="16" name="TextBox 16"/>
              <p:cNvSpPr txBox="1"/>
              <p:nvPr/>
            </p:nvSpPr>
            <p:spPr>
              <a:xfrm>
                <a:off x="0" y="0"/>
                <a:ext cx="24302161" cy="87020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4320"/>
                  </a:lnSpc>
                </a:pPr>
                <a:r>
                  <a:rPr lang="en-US" sz="3600">
                    <a:solidFill>
                      <a:srgbClr val="19415E"/>
                    </a:solidFill>
                    <a:latin typeface="Atkinson Hyperlegible"/>
                    <a:ea typeface="Atkinson Hyperlegible"/>
                    <a:cs typeface="Atkinson Hyperlegible"/>
                    <a:sym typeface="Atkinson Hyperlegible"/>
                  </a:rPr>
                  <a:t>14</a:t>
                </a:r>
              </a:p>
            </p:txBody>
          </p:sp>
        </p:grpSp>
      </p:grp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F1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0484" y="157677"/>
            <a:ext cx="1173423" cy="1130760"/>
            <a:chOff x="0" y="0"/>
            <a:chExt cx="1564564" cy="15076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564513" cy="1507617"/>
            </a:xfrm>
            <a:custGeom>
              <a:avLst/>
              <a:gdLst/>
              <a:ahLst/>
              <a:cxnLst/>
              <a:rect l="l" t="t" r="r" b="b"/>
              <a:pathLst>
                <a:path w="1564513" h="1507617">
                  <a:moveTo>
                    <a:pt x="0" y="0"/>
                  </a:moveTo>
                  <a:lnTo>
                    <a:pt x="1564513" y="0"/>
                  </a:lnTo>
                  <a:lnTo>
                    <a:pt x="1564513" y="1507617"/>
                  </a:lnTo>
                  <a:lnTo>
                    <a:pt x="0" y="15076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45" r="-48" b="-4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1257119" y="547564"/>
            <a:ext cx="15772324" cy="1987200"/>
            <a:chOff x="0" y="0"/>
            <a:chExt cx="21029765" cy="26496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029760" cy="2649599"/>
            </a:xfrm>
            <a:custGeom>
              <a:avLst/>
              <a:gdLst/>
              <a:ahLst/>
              <a:cxnLst/>
              <a:rect l="l" t="t" r="r" b="b"/>
              <a:pathLst>
                <a:path w="21029760" h="2649599">
                  <a:moveTo>
                    <a:pt x="0" y="0"/>
                  </a:moveTo>
                  <a:lnTo>
                    <a:pt x="21029760" y="0"/>
                  </a:lnTo>
                  <a:lnTo>
                    <a:pt x="21029760" y="2649599"/>
                  </a:lnTo>
                  <a:lnTo>
                    <a:pt x="0" y="264959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4651" b="-104652"/>
              </a:stretch>
            </a:blipFill>
          </p:spPr>
        </p:sp>
        <p:sp>
          <p:nvSpPr>
            <p:cNvPr id="6" name="TextBox 6"/>
            <p:cNvSpPr txBox="1"/>
            <p:nvPr/>
          </p:nvSpPr>
          <p:spPr>
            <a:xfrm>
              <a:off x="0" y="76200"/>
              <a:ext cx="21029765" cy="2573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480"/>
                </a:lnSpc>
              </a:pPr>
              <a:r>
                <a:rPr lang="en-US" sz="6000">
                  <a:solidFill>
                    <a:srgbClr val="4F86C6"/>
                  </a:solidFill>
                  <a:latin typeface="IBM Plex Sans Thai Looped"/>
                  <a:ea typeface="IBM Plex Sans Thai Looped"/>
                  <a:cs typeface="IBM Plex Sans Thai Looped"/>
                  <a:sym typeface="IBM Plex Sans Thai Looped"/>
                </a:rPr>
                <a:t>QR-КОД РЕПОЗИТОРИЯ ПРОЕКТА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620002" y="2700004"/>
            <a:ext cx="5399456" cy="6074464"/>
            <a:chOff x="0" y="0"/>
            <a:chExt cx="7199274" cy="8099285"/>
          </a:xfrm>
        </p:grpSpPr>
        <p:sp>
          <p:nvSpPr>
            <p:cNvPr id="8" name="Freeform 8" descr="preencoded.png"/>
            <p:cNvSpPr/>
            <p:nvPr/>
          </p:nvSpPr>
          <p:spPr>
            <a:xfrm>
              <a:off x="0" y="0"/>
              <a:ext cx="7199249" cy="8099298"/>
            </a:xfrm>
            <a:custGeom>
              <a:avLst/>
              <a:gdLst/>
              <a:ahLst/>
              <a:cxnLst/>
              <a:rect l="l" t="t" r="r" b="b"/>
              <a:pathLst>
                <a:path w="7199249" h="8099298">
                  <a:moveTo>
                    <a:pt x="0" y="0"/>
                  </a:moveTo>
                  <a:lnTo>
                    <a:pt x="7199249" y="0"/>
                  </a:lnTo>
                  <a:lnTo>
                    <a:pt x="7199249" y="8099298"/>
                  </a:lnTo>
                  <a:lnTo>
                    <a:pt x="0" y="80992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1"/>
              </a:stretch>
            </a:blipFill>
          </p:spPr>
        </p:sp>
      </p:grpSp>
      <p:sp>
        <p:nvSpPr>
          <p:cNvPr id="9" name="TextBox 9"/>
          <p:cNvSpPr txBox="1"/>
          <p:nvPr/>
        </p:nvSpPr>
        <p:spPr>
          <a:xfrm>
            <a:off x="7387018" y="3148574"/>
            <a:ext cx="10072983" cy="1352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27"/>
              </a:lnSpc>
            </a:pPr>
            <a:r>
              <a:rPr lang="en-US" sz="2939">
                <a:solidFill>
                  <a:srgbClr val="19415E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Ссылка с исходным кодом доступана по QR-коду. Отсканируйте камерой для доступа к хранилищу кода проекта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0" y="9534782"/>
            <a:ext cx="18288000" cy="775983"/>
            <a:chOff x="0" y="0"/>
            <a:chExt cx="24384000" cy="1034644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24382806" cy="1034644"/>
              <a:chOff x="0" y="0"/>
              <a:chExt cx="24382806" cy="103464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24382857" cy="1034669"/>
              </a:xfrm>
              <a:custGeom>
                <a:avLst/>
                <a:gdLst/>
                <a:ahLst/>
                <a:cxnLst/>
                <a:rect l="l" t="t" r="r" b="b"/>
                <a:pathLst>
                  <a:path w="24382857" h="1034669">
                    <a:moveTo>
                      <a:pt x="0" y="0"/>
                    </a:moveTo>
                    <a:lnTo>
                      <a:pt x="24382857" y="0"/>
                    </a:lnTo>
                    <a:lnTo>
                      <a:pt x="24382857" y="1034669"/>
                    </a:lnTo>
                    <a:lnTo>
                      <a:pt x="0" y="103466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7DEE3"/>
              </a:solidFill>
            </p:spPr>
          </p:sp>
        </p:grpSp>
        <p:grpSp>
          <p:nvGrpSpPr>
            <p:cNvPr id="13" name="Group 13"/>
            <p:cNvGrpSpPr/>
            <p:nvPr/>
          </p:nvGrpSpPr>
          <p:grpSpPr>
            <a:xfrm>
              <a:off x="81839" y="82220"/>
              <a:ext cx="24302161" cy="870204"/>
              <a:chOff x="0" y="0"/>
              <a:chExt cx="24302161" cy="870204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24302155" cy="870207"/>
              </a:xfrm>
              <a:custGeom>
                <a:avLst/>
                <a:gdLst/>
                <a:ahLst/>
                <a:cxnLst/>
                <a:rect l="l" t="t" r="r" b="b"/>
                <a:pathLst>
                  <a:path w="24302155" h="870207">
                    <a:moveTo>
                      <a:pt x="0" y="0"/>
                    </a:moveTo>
                    <a:lnTo>
                      <a:pt x="24302155" y="0"/>
                    </a:lnTo>
                    <a:lnTo>
                      <a:pt x="24302155" y="870207"/>
                    </a:lnTo>
                    <a:lnTo>
                      <a:pt x="0" y="870207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504096" r="-331" b="-487827"/>
                </a:stretch>
              </a:blipFill>
            </p:spPr>
          </p:sp>
          <p:sp>
            <p:nvSpPr>
              <p:cNvPr id="15" name="TextBox 15"/>
              <p:cNvSpPr txBox="1"/>
              <p:nvPr/>
            </p:nvSpPr>
            <p:spPr>
              <a:xfrm>
                <a:off x="0" y="0"/>
                <a:ext cx="24302161" cy="87020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4320"/>
                  </a:lnSpc>
                </a:pPr>
                <a:r>
                  <a:rPr lang="en-US" sz="3600">
                    <a:solidFill>
                      <a:srgbClr val="19415E"/>
                    </a:solidFill>
                    <a:latin typeface="Atkinson Hyperlegible"/>
                    <a:ea typeface="Atkinson Hyperlegible"/>
                    <a:cs typeface="Atkinson Hyperlegible"/>
                    <a:sym typeface="Atkinson Hyperlegible"/>
                  </a:rPr>
                  <a:t>15</a:t>
                </a:r>
              </a:p>
            </p:txBody>
          </p: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202</TotalTime>
  <Words>644</Words>
  <Application>Microsoft Office PowerPoint</Application>
  <PresentationFormat>Произвольный</PresentationFormat>
  <Paragraphs>85</Paragraphs>
  <Slides>16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1" baseType="lpstr">
      <vt:lpstr>Atkinson Hyperlegible</vt:lpstr>
      <vt:lpstr>Calibri</vt:lpstr>
      <vt:lpstr>IBM Plex Sans Thai Looped</vt:lpstr>
      <vt:lpstr>Arial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презентация.pptx</dc:title>
  <cp:lastModifiedBy>Михаил Пирязев</cp:lastModifiedBy>
  <cp:revision>4</cp:revision>
  <dcterms:created xsi:type="dcterms:W3CDTF">2006-08-16T00:00:00Z</dcterms:created>
  <dcterms:modified xsi:type="dcterms:W3CDTF">2026-05-13T20:38:31Z</dcterms:modified>
  <dc:identifier>DAHJWoq_YsY</dc:identifier>
</cp:coreProperties>
</file>