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gif" ContentType="image/gif"/>
  <Override PartName="/ppt/media/image8.png" ContentType="image/png"/>
  <Override PartName="/ppt/media/image12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9.png" ContentType="image/png"/>
  <Override PartName="/ppt/media/image13.png" ContentType="image/png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DF6E32-B564-42D0-A8CF-098344B780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AE825E0-CF64-4FC3-BD91-E761B7BB84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FB7E34F-CF95-4818-8FDD-56F01E2DB6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954C637-407C-44BE-8843-318EF5152C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FEE5E22-AC2B-477E-904B-0194405F41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C4DCFE5F-B203-4C34-894E-2B9EF96422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4DF3879-15B8-4A6D-9221-E2B073C8DE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0E698BE-2FD9-4339-A486-5F72D0762E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4ECF307-4E34-4496-BB37-5B059CC158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CCF6E49-BCAC-449D-89A5-BFFED41FEB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8385075-46EA-4011-BC64-3F7E18222F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gif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1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pic>
        <p:nvPicPr>
          <p:cNvPr id="2" name="Рисунок 7" descr="Изображение выглядит как текст, знак, на открытом воздухе&#10;&#10;Автоматически созданное описание"/>
          <p:cNvPicPr/>
          <p:nvPr/>
        </p:nvPicPr>
        <p:blipFill>
          <a:blip r:embed="rId4"/>
          <a:stretch/>
        </p:blipFill>
        <p:spPr>
          <a:xfrm>
            <a:off x="40320" y="945360"/>
            <a:ext cx="755640" cy="755640"/>
          </a:xfrm>
          <a:prstGeom prst="rect">
            <a:avLst/>
          </a:prstGeom>
          <a:ln w="0">
            <a:noFill/>
          </a:ln>
        </p:spPr>
      </p:pic>
      <p:pic>
        <p:nvPicPr>
          <p:cNvPr id="3" name="Рисунок 6" descr="Изображение выглядит как на открытом воздухе, небо, облака"/>
          <p:cNvPicPr/>
          <p:nvPr/>
        </p:nvPicPr>
        <p:blipFill>
          <a:blip r:embed="rId5"/>
          <a:stretch/>
        </p:blipFill>
        <p:spPr>
          <a:xfrm>
            <a:off x="0" y="9000"/>
            <a:ext cx="12194280" cy="6857640"/>
          </a:xfrm>
          <a:prstGeom prst="rect">
            <a:avLst/>
          </a:prstGeom>
          <a:ln w="0">
            <a:noFill/>
          </a:ln>
        </p:spPr>
      </p:pic>
      <p:pic>
        <p:nvPicPr>
          <p:cNvPr id="4" name="Picture 14" descr=""/>
          <p:cNvPicPr/>
          <p:nvPr/>
        </p:nvPicPr>
        <p:blipFill>
          <a:blip r:embed="rId6"/>
          <a:stretch/>
        </p:blipFill>
        <p:spPr>
          <a:xfrm>
            <a:off x="271080" y="27360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6000" spc="-1" strike="noStrike">
                <a:solidFill>
                  <a:srgbClr val="0070c0"/>
                </a:solidFill>
                <a:latin typeface="Impact"/>
              </a:rPr>
              <a:t>Обр</a:t>
            </a:r>
            <a:r>
              <a:rPr b="0" lang="ru-RU" sz="6000" spc="-1" strike="noStrike">
                <a:solidFill>
                  <a:srgbClr val="0070c0"/>
                </a:solidFill>
                <a:latin typeface="Impact"/>
              </a:rPr>
              <a:t>азец </a:t>
            </a:r>
            <a:r>
              <a:rPr b="0" lang="ru-RU" sz="6000" spc="-1" strike="noStrike">
                <a:solidFill>
                  <a:srgbClr val="0070c0"/>
                </a:solidFill>
                <a:latin typeface="Impact"/>
              </a:rPr>
              <a:t>заго</a:t>
            </a:r>
            <a:r>
              <a:rPr b="0" lang="ru-RU" sz="6000" spc="-1" strike="noStrike">
                <a:solidFill>
                  <a:srgbClr val="0070c0"/>
                </a:solidFill>
                <a:latin typeface="Impact"/>
              </a:rPr>
              <a:t>лов</a:t>
            </a:r>
            <a:r>
              <a:rPr b="0" lang="ru-RU" sz="6000" spc="-1" strike="noStrike">
                <a:solidFill>
                  <a:srgbClr val="0070c0"/>
                </a:solidFill>
                <a:latin typeface="Impact"/>
              </a:rPr>
              <a:t>ка</a:t>
            </a:r>
            <a:endParaRPr b="0" lang="ru-RU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3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EB3ED8-4AFA-4384-8159-2005533E54F6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Для правки структуры щёлкните мышью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Второй уровень структуры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Третий уровень структуры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Четвёртый уровень структуры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Пятый уровень структуры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Шестой уровень структуры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Седьмой уровень структуры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13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</a:t>
            </a: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</a:t>
            </a: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й </a:t>
            </a: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урове</a:t>
            </a: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е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т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в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е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р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т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ы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й 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у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р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о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в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е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н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я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т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ы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й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 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у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р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о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в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е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н</a:t>
            </a: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6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5E0C2-DDF4-4F63-92F0-03D03112EFB6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20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9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1EBDE8-DC64-4629-A511-CA54719EC093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27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ВКР (б) студента Пирязева Михаила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2"/>
          </p:nvPr>
        </p:nvSpPr>
        <p:spPr>
          <a:xfrm>
            <a:off x="9448920" y="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B99E29-88EF-4066-90FB-901C45078CB5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36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6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dk1">
                    <a:tint val="75000"/>
                  </a:schemeClr>
                </a:solidFill>
                <a:latin typeface="Arial Narrow"/>
              </a:rPr>
              <a:t>Образец текста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15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7807DC-B33F-4CC1-9858-8F8CEF71AB7B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43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18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1A4929-0EE5-4926-9096-7B0442333C18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54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1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8"/>
          <p:cNvSpPr>
            <a:spLocks noGrp="1"/>
          </p:cNvSpPr>
          <p:nvPr>
            <p:ph type="sldNum" idx="21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639747-459D-461A-9E9A-9EEF8DBC963E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64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sldNum" idx="24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A30244-AA7F-47E7-994D-90FBC01A4E0D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71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72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27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1A8A9A-887D-4F14-AA14-0D79C70FC233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76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Второй уровень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pc="-1" strike="noStrike">
                <a:solidFill>
                  <a:schemeClr val="dk1"/>
                </a:solidFill>
                <a:latin typeface="Arial Narrow"/>
              </a:rPr>
              <a:t>Третий уровень</a:t>
            </a:r>
            <a:endParaRPr b="0" lang="ru-RU" sz="2400" spc="-1" strike="noStrike">
              <a:solidFill>
                <a:schemeClr val="dk1"/>
              </a:solidFill>
              <a:latin typeface="Arial Narrow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Четвертый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Пятый уровень</a:t>
            </a:r>
            <a:endParaRPr b="0" lang="ru-RU" sz="20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16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sldNum" idx="30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72BEFB-4722-496B-B5B4-46B5C92E364F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Рисунок 8" descr=""/>
          <p:cNvPicPr/>
          <p:nvPr/>
        </p:nvPicPr>
        <p:blipFill>
          <a:blip r:embed="rId2"/>
          <a:stretch/>
        </p:blipFill>
        <p:spPr>
          <a:xfrm>
            <a:off x="0" y="6356520"/>
            <a:ext cx="12191760" cy="517680"/>
          </a:xfrm>
          <a:prstGeom prst="rect">
            <a:avLst/>
          </a:prstGeom>
          <a:ln w="0">
            <a:noFill/>
          </a:ln>
        </p:spPr>
      </p:pic>
      <p:pic>
        <p:nvPicPr>
          <p:cNvPr id="84" name="Picture 14" descr=""/>
          <p:cNvPicPr/>
          <p:nvPr/>
        </p:nvPicPr>
        <p:blipFill>
          <a:blip r:embed="rId3"/>
          <a:stretch/>
        </p:blipFill>
        <p:spPr>
          <a:xfrm>
            <a:off x="40320" y="105120"/>
            <a:ext cx="782640" cy="754200"/>
          </a:xfrm>
          <a:prstGeom prst="rect">
            <a:avLst/>
          </a:prstGeom>
          <a:ln w="0">
            <a:noFill/>
          </a:ln>
        </p:spPr>
      </p:pic>
      <p:pic>
        <p:nvPicPr>
          <p:cNvPr id="85" name="Рисунок 7" descr="Изображение выглядит как текст, знак, на открытом воздухе&#10;&#10;Автоматически созданное описание"/>
          <p:cNvPicPr/>
          <p:nvPr/>
        </p:nvPicPr>
        <p:blipFill>
          <a:blip r:embed="rId4"/>
          <a:stretch/>
        </p:blipFill>
        <p:spPr>
          <a:xfrm>
            <a:off x="40320" y="945360"/>
            <a:ext cx="755640" cy="755640"/>
          </a:xfrm>
          <a:prstGeom prst="rect">
            <a:avLst/>
          </a:prstGeom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pc="-1" strike="noStrike">
                <a:solidFill>
                  <a:srgbClr val="0070c0"/>
                </a:solidFill>
                <a:latin typeface="Impact"/>
              </a:rPr>
              <a:t>Образец заголовка</a:t>
            </a:r>
            <a:endParaRPr b="0" lang="ru-RU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Для правки структуры щёлкните мышью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Второй уровень структуры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Третий уровень структуры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Четвёртый уровень структуры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Пятый уровень структуры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Шестой уровень структуры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chemeClr val="dk1"/>
                </a:solidFill>
                <a:latin typeface="Arial Narrow"/>
              </a:rPr>
              <a:t>Седьмой уровень структуры</a:t>
            </a:r>
            <a:endParaRPr b="0" lang="ru-RU" sz="32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Arial Narrow"/>
              </a:rPr>
              <a:t>Образец текста</a:t>
            </a:r>
            <a:endParaRPr b="0" lang="ru-RU" sz="16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&lt;дата/время&gt;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&lt;нижний колонтитул&gt;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sldNum" idx="33"/>
          </p:nvPr>
        </p:nvSpPr>
        <p:spPr>
          <a:xfrm>
            <a:off x="9430920" y="298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2552BF-9C4D-427C-B21D-E316CFCCA8C6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learn.microsoft.com/en-us/windows/win32/api/winsock/" TargetMode="External"/><Relationship Id="rId2" Type="http://schemas.openxmlformats.org/officeDocument/2006/relationships/hyperlink" Target="https://learn.microsoft.com/en-us/windows/win32/api/winsock/" TargetMode="External"/><Relationship Id="rId3" Type="http://schemas.openxmlformats.org/officeDocument/2006/relationships/hyperlink" Target="https://learn.microsoft.com/en-us/windows/win32/api/winsock/" TargetMode="External"/><Relationship Id="rId4" Type="http://schemas.openxmlformats.org/officeDocument/2006/relationships/hyperlink" Target="https://learn.microsoft.com/en-us/windows/win32/api/winsock/" TargetMode="External"/><Relationship Id="rId5" Type="http://schemas.openxmlformats.org/officeDocument/2006/relationships/hyperlink" Target="https://learn.microsoft.com/en-us/windows/win32/api/winsock/" TargetMode="External"/><Relationship Id="rId6" Type="http://schemas.openxmlformats.org/officeDocument/2006/relationships/hyperlink" Target="https://learn.microsoft.com/en-us/windows/win32/api/winsock/" TargetMode="External"/><Relationship Id="rId7" Type="http://schemas.openxmlformats.org/officeDocument/2006/relationships/hyperlink" Target="https://learn.microsoft.com/en-us/windows/win32/api/winsock/" TargetMode="External"/><Relationship Id="rId8" Type="http://schemas.openxmlformats.org/officeDocument/2006/relationships/hyperlink" Target="https://learn.microsoft.com/en-us/windows/win32/api/winsock/" TargetMode="External"/><Relationship Id="rId9" Type="http://schemas.openxmlformats.org/officeDocument/2006/relationships/hyperlink" Target="https://learn.microsoft.com/en-us/windows/win32/api/winsock/" TargetMode="External"/><Relationship Id="rId10" Type="http://schemas.openxmlformats.org/officeDocument/2006/relationships/hyperlink" Target="https://learn.microsoft.com/en-us/windows/win32/api/winsock/" TargetMode="External"/><Relationship Id="rId11" Type="http://schemas.openxmlformats.org/officeDocument/2006/relationships/hyperlink" Target="https://learn.microsoft.com/en-us/windows/win32/api/winsock/" TargetMode="External"/><Relationship Id="rId12" Type="http://schemas.openxmlformats.org/officeDocument/2006/relationships/hyperlink" Target="https://learn.microsoft.com/en-us/windows/win32/api/winsock/" TargetMode="External"/><Relationship Id="rId13" Type="http://schemas.openxmlformats.org/officeDocument/2006/relationships/hyperlink" Target="https://learn.microsoft.com/en-us/windows/win32/api/winsock/" TargetMode="External"/><Relationship Id="rId14" Type="http://schemas.openxmlformats.org/officeDocument/2006/relationships/hyperlink" Target="https://learn.microsoft.com/en-us/windows/win32/api/winsock/" TargetMode="External"/><Relationship Id="rId15" Type="http://schemas.openxmlformats.org/officeDocument/2006/relationships/hyperlink" Target="https://learn.microsoft.com/en-us/windows/win32/api/winsock/" TargetMode="External"/><Relationship Id="rId16" Type="http://schemas.openxmlformats.org/officeDocument/2006/relationships/hyperlink" Target="https://learn.microsoft.com/en-us/windows/win32/api/winsock/" TargetMode="External"/><Relationship Id="rId17" Type="http://schemas.openxmlformats.org/officeDocument/2006/relationships/hyperlink" Target="https://learn.microsoft.com/en-us/windows/win32/api/winsock/" TargetMode="External"/><Relationship Id="rId18" Type="http://schemas.openxmlformats.org/officeDocument/2006/relationships/hyperlink" Target="https://learn.microsoft.com/en-us/windows/win32/api/winsock/" TargetMode="External"/><Relationship Id="rId19" Type="http://schemas.openxmlformats.org/officeDocument/2006/relationships/hyperlink" Target="https://learn.microsoft.com/en-us/windows/win32/api/winsock/" TargetMode="External"/><Relationship Id="rId20" Type="http://schemas.openxmlformats.org/officeDocument/2006/relationships/hyperlink" Target="https://learn.microsoft.com/en-us/windows/win32/api/winsock/" TargetMode="External"/><Relationship Id="rId2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620000" y="1321560"/>
            <a:ext cx="9736200" cy="29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2800" spc="-1" strike="noStrike">
                <a:solidFill>
                  <a:srgbClr val="203864"/>
                </a:solidFill>
                <a:latin typeface="Arial Narrow"/>
                <a:ea typeface="Noto Sans CJK SC"/>
              </a:rPr>
              <a:t>Выпускная квалификационная работа бакалавра</a:t>
            </a:r>
            <a:br>
              <a:rPr sz="2800"/>
            </a:br>
            <a:r>
              <a:rPr b="0" lang="ru-RU" sz="2800" spc="-1" strike="noStrike">
                <a:solidFill>
                  <a:srgbClr val="203864"/>
                </a:solidFill>
                <a:latin typeface="Arial Narrow"/>
                <a:ea typeface="Noto Sans CJK SC"/>
              </a:rPr>
              <a:t>на тему:</a:t>
            </a:r>
            <a:br>
              <a:rPr sz="2800"/>
            </a:br>
            <a:r>
              <a:rPr b="0" lang="ru-RU" sz="3200" spc="-1" strike="noStrike">
                <a:solidFill>
                  <a:srgbClr val="203864"/>
                </a:solidFill>
                <a:latin typeface="Impact"/>
                <a:ea typeface="Noto Sans CJK SC"/>
              </a:rPr>
              <a:t>«</a:t>
            </a:r>
            <a:r>
              <a:rPr b="0" lang="en-US" sz="2700" spc="-1" strike="noStrike">
                <a:solidFill>
                  <a:srgbClr val="203864"/>
                </a:solidFill>
                <a:latin typeface="Unbounded"/>
                <a:ea typeface="Unbounded"/>
              </a:rPr>
              <a:t>Разработка системы потоковой обработки финансовых транзакций</a:t>
            </a:r>
            <a:r>
              <a:rPr b="0" lang="ru-RU" sz="3200" spc="-1" strike="noStrike">
                <a:solidFill>
                  <a:srgbClr val="203864"/>
                </a:solidFill>
                <a:latin typeface="Impact"/>
              </a:rPr>
              <a:t>»</a:t>
            </a:r>
            <a:endParaRPr b="0" lang="ru-RU" sz="3200" spc="-1" strike="noStrike">
              <a:solidFill>
                <a:srgbClr val="203864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ubTitle"/>
          </p:nvPr>
        </p:nvSpPr>
        <p:spPr>
          <a:xfrm>
            <a:off x="1350720" y="4875480"/>
            <a:ext cx="10005480" cy="191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dk1"/>
                </a:solidFill>
                <a:latin typeface="Arial Narrow"/>
              </a:rPr>
              <a:t>Студент группы МО-407Б-22: </a:t>
            </a: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Пирязев Михаил Александрович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dk1"/>
                </a:solidFill>
                <a:latin typeface="Arial Narrow"/>
              </a:rPr>
              <a:t>Научный руководитель: </a:t>
            </a: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кандидат физико-математических наук, доцент, доцент 806 кафедры МАИ С.В. Кузнецова</a:t>
            </a:r>
            <a:r>
              <a:rPr b="0" lang="en-US" sz="2000" spc="-1" strike="noStrike">
                <a:solidFill>
                  <a:schemeClr val="dk1"/>
                </a:solidFill>
                <a:latin typeface="Arial Narrow"/>
              </a:rPr>
              <a:t>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Arial Narrow"/>
              </a:rPr>
              <a:t>Москва – 2026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13"/>
          <p:cNvSpPr/>
          <p:nvPr/>
        </p:nvSpPr>
        <p:spPr>
          <a:xfrm>
            <a:off x="1509840" y="217080"/>
            <a:ext cx="97628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800" spc="-1" strike="noStrike">
                <a:solidFill>
                  <a:schemeClr val="lt1"/>
                </a:solidFill>
                <a:latin typeface="Arial Narrow"/>
              </a:rPr>
              <a:t>Московский авиационный институт (национальный исследовательский университет)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ru-RU" sz="2000" spc="-1" strike="noStrike">
                <a:solidFill>
                  <a:schemeClr val="lt1"/>
                </a:solidFill>
                <a:latin typeface="Arial Narrow"/>
              </a:rPr>
              <a:t>Институт № 8 «Компьютерные науки и прикладная математика»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ru-RU" sz="2000" spc="-1" strike="noStrike">
                <a:solidFill>
                  <a:schemeClr val="lt1"/>
                </a:solidFill>
                <a:latin typeface="Arial Narrow"/>
              </a:rPr>
              <a:t>Кафедра № 806 «Вычислительная математика и программирование»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Актуальность темы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Рост безналичных платежей 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усложнение их жизненного цикла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требуют оперативной и достоверной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фиксации операций и прозрачного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мониторинга. Традиционные схемы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синхронного взаимодействия 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пакетной обработки искажают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метрики (повторы, задержки,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неупорядоченность), вызывают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ложные инциденты — нужна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система, которая надежно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записывает и обрабатывает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транзакции в кратчайшие сроки.</a:t>
            </a:r>
            <a:br>
              <a:rPr sz="2800"/>
            </a:b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rgbClr val="0070c0"/>
                </a:solidFill>
                <a:latin typeface="Arial Narrow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70c0"/>
                </a:solidFill>
                <a:latin typeface="Arial Narrow"/>
              </a:rPr>
              <a:t>ВКР (б) студента Пирязева Михаила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sldNum" idx="35"/>
          </p:nvPr>
        </p:nvSpPr>
        <p:spPr>
          <a:xfrm>
            <a:off x="0" y="5891760"/>
            <a:ext cx="1219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67E38EB-942F-4771-8C1F-AD2EA0044FBA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1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Цель и задачи работы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609560"/>
            <a:ext cx="1086192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0" defTabSz="914400">
              <a:lnSpc>
                <a:spcPct val="10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chemeClr val="dk1"/>
                </a:solidFill>
                <a:latin typeface="Arial Black"/>
              </a:rPr>
              <a:t>Цель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– спроектировать и реализовать систему приёма, хранения 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обработки транзакций с возможностью оперативного мониторинга.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0" defTabSz="914400">
              <a:lnSpc>
                <a:spcPct val="100000"/>
              </a:lnSpc>
              <a:spcBef>
                <a:spcPts val="1001"/>
              </a:spcBef>
              <a:buNone/>
            </a:pPr>
            <a:r>
              <a:rPr b="0" lang="ru-RU" sz="2800" spc="-1" strike="noStrike">
                <a:solidFill>
                  <a:schemeClr val="dk1"/>
                </a:solidFill>
                <a:latin typeface="Arial Black"/>
              </a:rPr>
              <a:t>Задачи: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Спроектировать систему: модель данных, API для операций 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аналитики, хранение и валидация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Реализовать функционал для обработки сообщений в соответствии с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требованиями, используя брокер сообщений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Обеспечить наблюдаемость и надёжность при помощи метрик, 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дашбордов, DLQ и логов.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36"/>
          </p:nvPr>
        </p:nvSpPr>
        <p:spPr>
          <a:xfrm>
            <a:off x="0" y="5852160"/>
            <a:ext cx="1219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6345FC-42DF-4049-8EB1-76E8EBB0142F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3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Ограничения задачи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Разработка фокусируется на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backend-компоненте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Не рассмотрены вопросы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сертификации (PCI DSS) 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complience с настоящими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банковскими регуляциями 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Тестирование единого элемента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системы, без кластеризации и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репликации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37"/>
          </p:nvPr>
        </p:nvSpPr>
        <p:spPr>
          <a:xfrm>
            <a:off x="0" y="5868000"/>
            <a:ext cx="1219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5C68BC5-2903-4ED7-92B6-49D51B3AC3D9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3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Поряд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ок 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выпол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нения 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работ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ы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Проанализировать рынок, существующие решения, проблемы и теорию.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Сделать заготовку под систему, принципы чистой архитектуры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Реализовать минимальный функционал проекта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Работа с kafka: продьюсер, консьюмер, DLQ и гарантии доставки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Обеспечить возможность наблюдаемости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Провести тестирование системы, написать документацию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38"/>
          </p:nvPr>
        </p:nvSpPr>
        <p:spPr>
          <a:xfrm>
            <a:off x="0" y="5820480"/>
            <a:ext cx="1219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C5E543-6357-420A-80B3-DAE1A7F87AA1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студента Фамилия Имя Отчетство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Стек 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технол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огий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39"/>
          </p:nvPr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2400" spc="-1" strike="noStrike">
                <a:solidFill>
                  <a:srgbClr val="0070c0"/>
                </a:solidFill>
                <a:latin typeface="Arial Black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4CA0A718-BA5A-4FF7-8D3C-670FA230A694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110" name=""/>
          <p:cNvGrpSpPr/>
          <p:nvPr/>
        </p:nvGrpSpPr>
        <p:grpSpPr>
          <a:xfrm>
            <a:off x="1260000" y="1764000"/>
            <a:ext cx="9720000" cy="576000"/>
            <a:chOff x="1260000" y="1764000"/>
            <a:chExt cx="9720000" cy="576000"/>
          </a:xfrm>
        </p:grpSpPr>
        <p:sp>
          <p:nvSpPr>
            <p:cNvPr id="111" name="Google Shape;85;p 1"/>
            <p:cNvSpPr/>
            <p:nvPr/>
          </p:nvSpPr>
          <p:spPr>
            <a:xfrm>
              <a:off x="1260000" y="1764000"/>
              <a:ext cx="4320000" cy="576000"/>
            </a:xfrm>
            <a:prstGeom prst="roundRect">
              <a:avLst>
                <a:gd name="adj" fmla="val 1483"/>
              </a:avLst>
            </a:prstGeom>
            <a:solidFill>
              <a:srgbClr val="b4c7dc"/>
            </a:solidFill>
            <a:ln cap="rnd"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1160" rIns="101160" tIns="101160" bIns="101160" anchor="ctr">
              <a:noAutofit/>
            </a:bodyPr>
            <a:p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Язык программирования Go</a:t>
              </a:r>
              <a:endParaRPr b="0" lang="ru-RU" sz="2800" spc="-1" strike="noStrike">
                <a:solidFill>
                  <a:srgbClr val="000000"/>
                </a:solidFill>
                <a:latin typeface="Arial narrow"/>
                <a:ea typeface="Arial"/>
              </a:endParaRPr>
            </a:p>
          </p:txBody>
        </p:sp>
        <p:sp>
          <p:nvSpPr>
            <p:cNvPr id="112" name="Google Shape;85;p 3"/>
            <p:cNvSpPr/>
            <p:nvPr/>
          </p:nvSpPr>
          <p:spPr>
            <a:xfrm>
              <a:off x="6660000" y="1764000"/>
              <a:ext cx="4320000" cy="576000"/>
            </a:xfrm>
            <a:prstGeom prst="roundRect">
              <a:avLst>
                <a:gd name="adj" fmla="val 1483"/>
              </a:avLst>
            </a:prstGeom>
            <a:solidFill>
              <a:srgbClr val="b4c7dc"/>
            </a:solidFill>
            <a:ln cap="rnd"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1160" rIns="101160" tIns="101160" bIns="101160" anchor="ctr">
              <a:noAutofit/>
            </a:bodyPr>
            <a:p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Хранилище - PSQL</a:t>
              </a:r>
              <a:endParaRPr b="0" lang="ru-RU" sz="2800" spc="-1" strike="noStrike">
                <a:solidFill>
                  <a:srgbClr val="000000"/>
                </a:solidFill>
                <a:latin typeface="Arial narrow"/>
                <a:ea typeface="Arial"/>
              </a:endParaRPr>
            </a:p>
          </p:txBody>
        </p:sp>
      </p:grpSp>
      <p:grpSp>
        <p:nvGrpSpPr>
          <p:cNvPr id="113" name=""/>
          <p:cNvGrpSpPr/>
          <p:nvPr/>
        </p:nvGrpSpPr>
        <p:grpSpPr>
          <a:xfrm>
            <a:off x="1260000" y="3132000"/>
            <a:ext cx="9720000" cy="576000"/>
            <a:chOff x="1260000" y="3132000"/>
            <a:chExt cx="9720000" cy="576000"/>
          </a:xfrm>
        </p:grpSpPr>
        <p:sp>
          <p:nvSpPr>
            <p:cNvPr id="114" name="Google Shape;85;p 1"/>
            <p:cNvSpPr/>
            <p:nvPr/>
          </p:nvSpPr>
          <p:spPr>
            <a:xfrm>
              <a:off x="1260000" y="3132000"/>
              <a:ext cx="4320000" cy="576000"/>
            </a:xfrm>
            <a:prstGeom prst="roundRect">
              <a:avLst>
                <a:gd name="adj" fmla="val 1483"/>
              </a:avLst>
            </a:prstGeom>
            <a:solidFill>
              <a:srgbClr val="b4c7dc"/>
            </a:solidFill>
            <a:ln cap="rnd"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1160" rIns="101160" tIns="101160" bIns="101160" anchor="ctr">
              <a:noAutofit/>
            </a:bodyPr>
            <a:p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Брокер — Apache Kafka</a:t>
              </a:r>
              <a:endParaRPr b="0" lang="ru-RU" sz="2800" spc="-1" strike="noStrike">
                <a:solidFill>
                  <a:srgbClr val="000000"/>
                </a:solidFill>
                <a:latin typeface="Arial narrow"/>
                <a:ea typeface="Arial"/>
              </a:endParaRPr>
            </a:p>
          </p:txBody>
        </p:sp>
        <p:sp>
          <p:nvSpPr>
            <p:cNvPr id="115" name="Google Shape;85;p 3"/>
            <p:cNvSpPr/>
            <p:nvPr/>
          </p:nvSpPr>
          <p:spPr>
            <a:xfrm>
              <a:off x="6660000" y="3132000"/>
              <a:ext cx="4320000" cy="576000"/>
            </a:xfrm>
            <a:prstGeom prst="roundRect">
              <a:avLst>
                <a:gd name="adj" fmla="val 1483"/>
              </a:avLst>
            </a:prstGeom>
            <a:solidFill>
              <a:srgbClr val="b4c7dc"/>
            </a:solidFill>
            <a:ln cap="rnd"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1160" rIns="101160" tIns="101160" bIns="101160" anchor="ctr">
              <a:noAutofit/>
            </a:bodyPr>
            <a:p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Развертывание - Docker</a:t>
              </a:r>
              <a:endParaRPr b="0" lang="ru-RU" sz="2800" spc="-1" strike="noStrike">
                <a:solidFill>
                  <a:srgbClr val="000000"/>
                </a:solidFill>
                <a:latin typeface="Arial narrow"/>
                <a:ea typeface="Arial"/>
              </a:endParaRPr>
            </a:p>
          </p:txBody>
        </p:sp>
      </p:grpSp>
      <p:grpSp>
        <p:nvGrpSpPr>
          <p:cNvPr id="116" name=""/>
          <p:cNvGrpSpPr/>
          <p:nvPr/>
        </p:nvGrpSpPr>
        <p:grpSpPr>
          <a:xfrm>
            <a:off x="1260000" y="4464000"/>
            <a:ext cx="9720000" cy="576000"/>
            <a:chOff x="1260000" y="4464000"/>
            <a:chExt cx="9720000" cy="576000"/>
          </a:xfrm>
        </p:grpSpPr>
        <p:sp>
          <p:nvSpPr>
            <p:cNvPr id="117" name="Google Shape;85;p 1"/>
            <p:cNvSpPr/>
            <p:nvPr/>
          </p:nvSpPr>
          <p:spPr>
            <a:xfrm>
              <a:off x="1260000" y="4464000"/>
              <a:ext cx="4320000" cy="576000"/>
            </a:xfrm>
            <a:prstGeom prst="roundRect">
              <a:avLst>
                <a:gd name="adj" fmla="val 1483"/>
              </a:avLst>
            </a:prstGeom>
            <a:solidFill>
              <a:srgbClr val="b4c7dc"/>
            </a:solidFill>
            <a:ln cap="rnd"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1160" rIns="101160" tIns="101160" bIns="101160" anchor="ctr">
              <a:noAutofit/>
            </a:bodyPr>
            <a:p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Дашборды - </a:t>
              </a:r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Graphana</a:t>
              </a:r>
              <a:endParaRPr b="0" lang="ru-RU" sz="2800" spc="-1" strike="noStrike">
                <a:solidFill>
                  <a:srgbClr val="000000"/>
                </a:solidFill>
                <a:latin typeface="Arial narrow"/>
                <a:ea typeface="Arial"/>
              </a:endParaRPr>
            </a:p>
          </p:txBody>
        </p:sp>
        <p:sp>
          <p:nvSpPr>
            <p:cNvPr id="118" name="Google Shape;85;p 3"/>
            <p:cNvSpPr/>
            <p:nvPr/>
          </p:nvSpPr>
          <p:spPr>
            <a:xfrm>
              <a:off x="6660000" y="4464000"/>
              <a:ext cx="4320000" cy="576000"/>
            </a:xfrm>
            <a:prstGeom prst="roundRect">
              <a:avLst>
                <a:gd name="adj" fmla="val 1483"/>
              </a:avLst>
            </a:prstGeom>
            <a:solidFill>
              <a:srgbClr val="b4c7dc"/>
            </a:solidFill>
            <a:ln cap="rnd"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1160" rIns="101160" tIns="101160" bIns="101160" anchor="ctr">
              <a:noAutofit/>
            </a:bodyPr>
            <a:p>
              <a:r>
                <a:rPr b="0" lang="ru-RU" sz="2800" spc="-1" strike="noStrike">
                  <a:solidFill>
                    <a:srgbClr val="000000"/>
                  </a:solidFill>
                  <a:latin typeface="Arial narrow"/>
                </a:rPr>
                <a:t>Метрики - Prometheus</a:t>
              </a:r>
              <a:endParaRPr b="0" lang="ru-RU" sz="2800" spc="-1" strike="noStrike">
                <a:solidFill>
                  <a:srgbClr val="000000"/>
                </a:solidFill>
                <a:latin typeface="Arial narrow"/>
                <a:ea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студента Фамилия Имя Отчетство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Архите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ктура 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проект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40"/>
          </p:nvPr>
        </p:nvSpPr>
        <p:spPr>
          <a:xfrm>
            <a:off x="9448920" y="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2400" spc="-1" strike="noStrike">
              <a:solidFill>
                <a:srgbClr val="0070c0"/>
              </a:solidFill>
              <a:latin typeface="Arial Black"/>
            </a:endParaRPr>
          </a:p>
        </p:txBody>
      </p:sp>
      <p:pic>
        <p:nvPicPr>
          <p:cNvPr id="122" name="Рисунок 5" descr="arch.png"/>
          <p:cNvPicPr/>
          <p:nvPr/>
        </p:nvPicPr>
        <p:blipFill>
          <a:blip r:embed="rId1"/>
          <a:stretch/>
        </p:blipFill>
        <p:spPr>
          <a:xfrm>
            <a:off x="707760" y="1709640"/>
            <a:ext cx="7418160" cy="4160520"/>
          </a:xfrm>
          <a:prstGeom prst="rect">
            <a:avLst/>
          </a:prstGeom>
          <a:ln w="0">
            <a:noFill/>
          </a:ln>
        </p:spPr>
      </p:pic>
      <p:sp>
        <p:nvSpPr>
          <p:cNvPr id="123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80EF851E-7AA3-48EF-829E-7FE7C6178732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24760" y="1148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Архитектура проекта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41"/>
          </p:nvPr>
        </p:nvSpPr>
        <p:spPr>
          <a:xfrm>
            <a:off x="9448920" y="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2400" spc="-1" strike="noStrike">
              <a:solidFill>
                <a:srgbClr val="0070c0"/>
              </a:solidFill>
              <a:latin typeface="Arial Black"/>
            </a:endParaRPr>
          </a:p>
        </p:txBody>
      </p:sp>
      <p:sp>
        <p:nvSpPr>
          <p:cNvPr id="126" name="Номер слайда 3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DE9D6662-328C-49F1-AF07-745FA2094568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48240" y="1331640"/>
            <a:ext cx="12191760" cy="4517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Функции сокетов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29" name="Объект 9"/>
          <p:cNvGraphicFramePr/>
          <p:nvPr/>
        </p:nvGraphicFramePr>
        <p:xfrm>
          <a:off x="245160" y="1807920"/>
          <a:ext cx="5850360" cy="2784960"/>
        </p:xfrm>
        <a:graphic>
          <a:graphicData uri="http://schemas.openxmlformats.org/drawingml/2006/table">
            <a:tbl>
              <a:tblPr/>
              <a:tblGrid>
                <a:gridCol w="1878480"/>
                <a:gridCol w="3972240"/>
              </a:tblGrid>
              <a:tr h="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Название функций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Предназначение функции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gpi_sock_create()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socket()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gpi_sock_close()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close()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gpi_sock_bind()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bind()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gpi_sock_listen()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listen()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gpi_sock_connect()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connect</a:t>
                      </a: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(). 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Необходим дополнительный параметр времени, показывающий, сколько именно нужно ждать соединения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0" name="Таблица 12"/>
          <p:cNvGraphicFramePr/>
          <p:nvPr/>
        </p:nvGraphicFramePr>
        <p:xfrm>
          <a:off x="6167520" y="1796400"/>
          <a:ext cx="5760360" cy="4435200"/>
        </p:xfrm>
        <a:graphic>
          <a:graphicData uri="http://schemas.openxmlformats.org/drawingml/2006/table">
            <a:tbl>
              <a:tblPr/>
              <a:tblGrid>
                <a:gridCol w="1984320"/>
                <a:gridCol w="3776040"/>
              </a:tblGrid>
              <a:tr h="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Название функций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Предназначение функции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gpi_sock_accept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accept</a:t>
                      </a: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(). 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Необходим дополнительный параметр времени, показывающий, сколько именно нужно ждать подключения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sock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recv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recv</a:t>
                      </a: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(). 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Необходим дополнительный параметр  времени, показывающий, сколько именно нужно ждать полученного сообщения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sock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send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Аналог обобщенной функции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send()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sock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set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attr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 существует прямого аналога. 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Задает все желаемые пользователем атрибуты и удаляет все остальные из заранее заданного компанией списка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sock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get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_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attr</a:t>
                      </a: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 существует прямого аналога. 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Показывает все атрибуты сокета из заранее заданного компанией списка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31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2C9E454E-5CCF-4E20-A079-A9E203BD5915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Функции потоков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3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1807C9F1-B9C1-4166-8226-855BAB395314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4" name="Объект 5"/>
          <p:cNvGraphicFramePr/>
          <p:nvPr/>
        </p:nvGraphicFramePr>
        <p:xfrm>
          <a:off x="265320" y="2403000"/>
          <a:ext cx="5830200" cy="2227680"/>
        </p:xfrm>
        <a:graphic>
          <a:graphicData uri="http://schemas.openxmlformats.org/drawingml/2006/table">
            <a:tbl>
              <a:tblPr/>
              <a:tblGrid>
                <a:gridCol w="1979640"/>
                <a:gridCol w="3850560"/>
              </a:tblGrid>
              <a:tr h="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Название функций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Предназначение функции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gpi_thr_create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Создание потока.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Необходим дополнительный параметр очереди (может быть равен </a:t>
                      </a:r>
                      <a:r>
                        <a:rPr b="0" lang="en-US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NULL</a:t>
                      </a: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), создающий, собственно, очередь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gpi_thr_queue_create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Отдельное создание очереди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gpi_thr_close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Закрытие из своего или чужого потока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5" name="Таблица 7"/>
          <p:cNvGraphicFramePr/>
          <p:nvPr/>
        </p:nvGraphicFramePr>
        <p:xfrm>
          <a:off x="6226200" y="2380320"/>
          <a:ext cx="5830200" cy="2784960"/>
        </p:xfrm>
        <a:graphic>
          <a:graphicData uri="http://schemas.openxmlformats.org/drawingml/2006/table">
            <a:tbl>
              <a:tblPr/>
              <a:tblGrid>
                <a:gridCol w="1979640"/>
                <a:gridCol w="3850560"/>
              </a:tblGrid>
              <a:tr h="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Название функций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15000"/>
                        </a:lnSpc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Предназначение функции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gpi_thr_open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Открытие раннее созданного потока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gpi_thr_exit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Закрытие потока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gpi_thr_msg_post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Отправка сообщения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gpi_thr_msg_send</a:t>
                      </a: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Отправка сообщения без ожидания ответа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  <a:spcBef>
                          <a:spcPts val="300"/>
                        </a:spcBef>
                      </a:pPr>
                      <a:r>
                        <a:rPr b="1" lang="ru-RU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gpi_thr_msg_wait()</a:t>
                      </a:r>
                      <a:endParaRPr b="0" lang="ru-RU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Ожидание приема сообщения.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 defTabSz="914400">
                        <a:lnSpc>
                          <a:spcPct val="115000"/>
                        </a:lnSpc>
                      </a:pPr>
                      <a:r>
                        <a:rPr b="0" lang="ru-RU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Необходим дополнительный параметр  времени, показывающий, сколько именно нужно ждать приема</a:t>
                      </a:r>
                      <a:endParaRPr b="0" lang="ru-RU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6AFCBDE-DEA9-47FF-A0CA-B0DC163547A4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rgbClr val="0070c0"/>
                </a:solidFill>
                <a:latin typeface="Impact"/>
              </a:rPr>
              <a:t>QR-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код репозитория проекта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42"/>
          </p:nvPr>
        </p:nvSpPr>
        <p:spPr>
          <a:xfrm>
            <a:off x="9448920" y="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2400" spc="-1" strike="noStrike">
              <a:solidFill>
                <a:srgbClr val="0070c0"/>
              </a:solidFill>
              <a:latin typeface="Arial Black"/>
            </a:endParaRPr>
          </a:p>
        </p:txBody>
      </p:sp>
      <p:sp>
        <p:nvSpPr>
          <p:cNvPr id="138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585E907B-8E60-45FA-98DF-9956F77A7CF1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" name="Google Shape;149;p20" descr="preencoded.png"/>
          <p:cNvPicPr/>
          <p:nvPr/>
        </p:nvPicPr>
        <p:blipFill>
          <a:blip r:embed="rId1"/>
          <a:stretch/>
        </p:blipFill>
        <p:spPr>
          <a:xfrm>
            <a:off x="1080000" y="1800000"/>
            <a:ext cx="3600000" cy="40500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Описание программной разработки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Общий вид функций представляет собой обертку уже существующих функций для ОС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Windows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и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Linux,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в которых приводится унификация типов переменных использующихся в данных функциях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,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а затем и стандартизация кодов возврата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,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если в заданной функции производится возврат результат выполнения функции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43"/>
          </p:nvPr>
        </p:nvSpPr>
        <p:spPr>
          <a:xfrm>
            <a:off x="9448920" y="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2400" spc="-1" strike="noStrike">
              <a:solidFill>
                <a:srgbClr val="0070c0"/>
              </a:solidFill>
              <a:latin typeface="Arial Black"/>
            </a:endParaRPr>
          </a:p>
        </p:txBody>
      </p:sp>
      <p:sp>
        <p:nvSpPr>
          <p:cNvPr id="143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BDFDF406-2697-43AB-8456-0CED516BBDD2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Пример реализации функций 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Функция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gpi_sock_close ():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Код на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Windows: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Код на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Linux: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pic>
        <p:nvPicPr>
          <p:cNvPr id="146" name="Picture 2" descr=""/>
          <p:cNvPicPr/>
          <p:nvPr/>
        </p:nvPicPr>
        <p:blipFill>
          <a:blip r:embed="rId1"/>
          <a:stretch/>
        </p:blipFill>
        <p:spPr>
          <a:xfrm>
            <a:off x="774000" y="2775240"/>
            <a:ext cx="3431880" cy="288360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4" descr=""/>
          <p:cNvPicPr/>
          <p:nvPr/>
        </p:nvPicPr>
        <p:blipFill>
          <a:blip r:embed="rId2"/>
          <a:stretch/>
        </p:blipFill>
        <p:spPr>
          <a:xfrm>
            <a:off x="6524280" y="2769480"/>
            <a:ext cx="3096360" cy="2921760"/>
          </a:xfrm>
          <a:prstGeom prst="rect">
            <a:avLst/>
          </a:prstGeom>
          <a:ln w="0">
            <a:noFill/>
          </a:ln>
        </p:spPr>
      </p:pic>
      <p:sp>
        <p:nvSpPr>
          <p:cNvPr id="148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33980565-BA75-4A5C-A118-795138A25C4F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rgbClr val="0070c0"/>
                </a:solidFill>
                <a:latin typeface="Impact"/>
              </a:rPr>
              <a:t> 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Тестирование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850680" y="1797120"/>
            <a:ext cx="10502640" cy="437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Тестирование написанных функций сокетов с использованием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CRT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Проверка идентичности написанных функций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: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Код на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Windows: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	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        Код на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Linux: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44"/>
          </p:nvPr>
        </p:nvSpPr>
        <p:spPr>
          <a:xfrm>
            <a:off x="9448920" y="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ru-RU" sz="2400" spc="-1" strike="noStrike">
              <a:solidFill>
                <a:srgbClr val="0070c0"/>
              </a:solidFill>
              <a:latin typeface="Arial Black"/>
            </a:endParaRPr>
          </a:p>
        </p:txBody>
      </p:sp>
      <p:pic>
        <p:nvPicPr>
          <p:cNvPr id="152" name="Рисунок 7" descr=""/>
          <p:cNvPicPr/>
          <p:nvPr/>
        </p:nvPicPr>
        <p:blipFill>
          <a:blip r:embed="rId1"/>
          <a:stretch/>
        </p:blipFill>
        <p:spPr>
          <a:xfrm>
            <a:off x="5961240" y="3301920"/>
            <a:ext cx="5893560" cy="2355480"/>
          </a:xfrm>
          <a:prstGeom prst="rect">
            <a:avLst/>
          </a:prstGeom>
          <a:ln w="0">
            <a:noFill/>
          </a:ln>
        </p:spPr>
      </p:pic>
      <p:pic>
        <p:nvPicPr>
          <p:cNvPr id="153" name="Рисунок 8" descr=""/>
          <p:cNvPicPr/>
          <p:nvPr/>
        </p:nvPicPr>
        <p:blipFill>
          <a:blip r:embed="rId2"/>
          <a:stretch/>
        </p:blipFill>
        <p:spPr>
          <a:xfrm>
            <a:off x="179640" y="3301920"/>
            <a:ext cx="5646240" cy="2355480"/>
          </a:xfrm>
          <a:prstGeom prst="rect">
            <a:avLst/>
          </a:prstGeom>
          <a:ln w="0">
            <a:noFill/>
          </a:ln>
        </p:spPr>
      </p:pic>
      <p:sp>
        <p:nvSpPr>
          <p:cNvPr id="154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927CC667-BC0F-4CF5-9AFE-5E9680D887CE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000" spc="-1" strike="noStrike">
                <a:solidFill>
                  <a:srgbClr val="0070c0"/>
                </a:solidFill>
                <a:latin typeface="Impact"/>
              </a:rPr>
              <a:t> </a:t>
            </a: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Тестирование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44560" y="1829520"/>
            <a:ext cx="10502640" cy="437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Тестирование написанных функций сокетов с использованием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CRT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Взаимодействие сокетов на компьютерах с операционных системах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Windows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и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Linux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соответственно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: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pic>
        <p:nvPicPr>
          <p:cNvPr id="157" name="Picture 2" descr=""/>
          <p:cNvPicPr/>
          <p:nvPr/>
        </p:nvPicPr>
        <p:blipFill>
          <a:blip r:embed="rId1"/>
          <a:stretch/>
        </p:blipFill>
        <p:spPr>
          <a:xfrm>
            <a:off x="620640" y="3139920"/>
            <a:ext cx="5340600" cy="2718000"/>
          </a:xfrm>
          <a:prstGeom prst="rect">
            <a:avLst/>
          </a:prstGeom>
          <a:ln w="0">
            <a:noFill/>
          </a:ln>
        </p:spPr>
      </p:pic>
      <p:pic>
        <p:nvPicPr>
          <p:cNvPr id="158" name="Рисунок 10" descr=""/>
          <p:cNvPicPr/>
          <p:nvPr/>
        </p:nvPicPr>
        <p:blipFill>
          <a:blip r:embed="rId2"/>
          <a:stretch/>
        </p:blipFill>
        <p:spPr>
          <a:xfrm>
            <a:off x="6176520" y="3139920"/>
            <a:ext cx="5408280" cy="2661480"/>
          </a:xfrm>
          <a:prstGeom prst="rect">
            <a:avLst/>
          </a:prstGeom>
          <a:ln w="0">
            <a:noFill/>
          </a:ln>
        </p:spPr>
      </p:pic>
      <p:sp>
        <p:nvSpPr>
          <p:cNvPr id="159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ED4983FA-D915-4972-8E2C-CC650E40DE77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FFEE09C-948F-44ED-8F55-BBAE286DADCB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Результат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826920" y="1693800"/>
            <a:ext cx="10526400" cy="44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Предложено решение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,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которые позволяет решить проблему переноса ПО из среды ОС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Windows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на ОС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Linux.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Был проведен тест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,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который доказывает, что функции работают корректно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Появилась возможность создать связь между компьютерами под разными операционными системам.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62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5120E427-44C6-4B82-A226-699376868235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98462BD-6EE5-41DA-990C-0F67FC6E9196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Источники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826920" y="1693800"/>
            <a:ext cx="10526400" cy="448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Основные различия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Windows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и 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Linux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. –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URL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: </a:t>
            </a:r>
            <a:r>
              <a:rPr b="0" lang="ru-RU" sz="2800" spc="-1" strike="noStrike" u="sng">
                <a:solidFill>
                  <a:srgbClr val="0070c0"/>
                </a:solidFill>
                <a:uFillTx/>
                <a:latin typeface="Arial Narrow"/>
              </a:rPr>
              <a:t>https://linuxthebest.net/osnovnye-otlichiya-windows-i-linux/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(дата обращения 15.04.2023)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Microsoft Learn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–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URL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: 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1"/>
              </a:rPr>
              <a:t>https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2"/>
              </a:rPr>
              <a:t>://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3"/>
              </a:rPr>
              <a:t>learn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4"/>
              </a:rPr>
              <a:t>.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5"/>
              </a:rPr>
              <a:t>microsoft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6"/>
              </a:rPr>
              <a:t>.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7"/>
              </a:rPr>
              <a:t>com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8"/>
              </a:rPr>
              <a:t>/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9"/>
              </a:rPr>
              <a:t>en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10"/>
              </a:rPr>
              <a:t>-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11"/>
              </a:rPr>
              <a:t>us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12"/>
              </a:rPr>
              <a:t>/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13"/>
              </a:rPr>
              <a:t>windows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14"/>
              </a:rPr>
              <a:t>/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15"/>
              </a:rPr>
              <a:t>win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16"/>
              </a:rPr>
              <a:t>32/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17"/>
              </a:rPr>
              <a:t>api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18"/>
              </a:rPr>
              <a:t>/</a:t>
            </a:r>
            <a:r>
              <a:rPr b="0" lang="en-US" sz="2800" spc="-1" strike="noStrike" u="sng">
                <a:solidFill>
                  <a:schemeClr val="dk1"/>
                </a:solidFill>
                <a:uFillTx/>
                <a:latin typeface="Arial Narrow"/>
                <a:hlinkClick r:id="rId19"/>
              </a:rPr>
              <a:t>winsock</a:t>
            </a:r>
            <a:r>
              <a:rPr b="0" lang="ru-RU" sz="2800" spc="-1" strike="noStrike" u="sng">
                <a:solidFill>
                  <a:schemeClr val="dk1"/>
                </a:solidFill>
                <a:uFillTx/>
                <a:latin typeface="Arial Narrow"/>
                <a:hlinkClick r:id="rId20"/>
              </a:rPr>
              <a:t>/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(дата обращения 16.04.2022).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OpenNet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 –</a:t>
            </a:r>
            <a:r>
              <a:rPr b="0" lang="en-US" sz="2800" spc="-1" strike="noStrike">
                <a:solidFill>
                  <a:schemeClr val="dk1"/>
                </a:solidFill>
                <a:latin typeface="Arial Narrow"/>
              </a:rPr>
              <a:t>URL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: </a:t>
            </a:r>
            <a:r>
              <a:rPr b="0" lang="en-US" sz="2800" spc="-1" strike="noStrike" u="sng">
                <a:solidFill>
                  <a:srgbClr val="0070c0"/>
                </a:solidFill>
                <a:uFillTx/>
                <a:latin typeface="Arial Narrow"/>
              </a:rPr>
              <a:t>https</a:t>
            </a:r>
            <a:r>
              <a:rPr b="0" lang="ru-RU" sz="2800" spc="-1" strike="noStrike" u="sng">
                <a:solidFill>
                  <a:srgbClr val="0070c0"/>
                </a:solidFill>
                <a:uFillTx/>
                <a:latin typeface="Arial Narrow"/>
              </a:rPr>
              <a:t>://</a:t>
            </a:r>
            <a:r>
              <a:rPr b="0" lang="en-US" sz="2800" spc="-1" strike="noStrike" u="sng">
                <a:solidFill>
                  <a:srgbClr val="0070c0"/>
                </a:solidFill>
                <a:uFillTx/>
                <a:latin typeface="Arial Narrow"/>
              </a:rPr>
              <a:t>www</a:t>
            </a:r>
            <a:r>
              <a:rPr b="0" lang="ru-RU" sz="2800" spc="-1" strike="noStrike" u="sng">
                <a:solidFill>
                  <a:srgbClr val="0070c0"/>
                </a:solidFill>
                <a:uFillTx/>
                <a:latin typeface="Arial Narrow"/>
              </a:rPr>
              <a:t>.</a:t>
            </a:r>
            <a:r>
              <a:rPr b="0" lang="en-US" sz="2800" spc="-1" strike="noStrike" u="sng">
                <a:solidFill>
                  <a:srgbClr val="0070c0"/>
                </a:solidFill>
                <a:uFillTx/>
                <a:latin typeface="Arial Narrow"/>
              </a:rPr>
              <a:t>opennet</a:t>
            </a:r>
            <a:r>
              <a:rPr b="0" lang="ru-RU" sz="2800" spc="-1" strike="noStrike" u="sng">
                <a:solidFill>
                  <a:srgbClr val="0070c0"/>
                </a:solidFill>
                <a:uFillTx/>
                <a:latin typeface="Arial Narrow"/>
              </a:rPr>
              <a:t>.</a:t>
            </a:r>
            <a:r>
              <a:rPr b="0" lang="en-US" sz="2800" spc="-1" strike="noStrike" u="sng">
                <a:solidFill>
                  <a:srgbClr val="0070c0"/>
                </a:solidFill>
                <a:uFillTx/>
                <a:latin typeface="Arial Narrow"/>
              </a:rPr>
              <a:t>ru</a:t>
            </a:r>
            <a:r>
              <a:rPr b="0" lang="ru-RU" sz="2800" spc="-1" strike="noStrike" u="sng">
                <a:solidFill>
                  <a:srgbClr val="0070c0"/>
                </a:solidFill>
                <a:uFillTx/>
                <a:latin typeface="Arial Narrow"/>
              </a:rPr>
              <a:t>/ </a:t>
            </a:r>
            <a:r>
              <a:rPr b="0" lang="ru-RU" sz="2800" spc="-1" strike="noStrike">
                <a:solidFill>
                  <a:schemeClr val="dk1"/>
                </a:solidFill>
                <a:latin typeface="Arial Narrow"/>
              </a:rPr>
              <a:t>(дата обращения 16.04.2023).</a:t>
            </a:r>
            <a:endParaRPr b="0" lang="ru-RU" sz="2800" spc="-1" strike="noStrike">
              <a:solidFill>
                <a:schemeClr val="dk1"/>
              </a:solidFill>
              <a:latin typeface="Arial Narrow"/>
            </a:endParaRPr>
          </a:p>
        </p:txBody>
      </p:sp>
      <p:sp>
        <p:nvSpPr>
          <p:cNvPr id="165" name="Номер слайда 4"/>
          <p:cNvSpPr/>
          <p:nvPr/>
        </p:nvSpPr>
        <p:spPr>
          <a:xfrm>
            <a:off x="0" y="5844240"/>
            <a:ext cx="12191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 defTabSz="914400">
              <a:lnSpc>
                <a:spcPct val="100000"/>
              </a:lnSpc>
            </a:pPr>
            <a:fld id="{30DC6673-31D0-44B9-895E-E8BF53C368E1}" type="slidenum">
              <a:rPr b="0" lang="ru-RU" sz="2400" spc="-1" strike="noStrike">
                <a:solidFill>
                  <a:srgbClr val="0070c0"/>
                </a:solidFill>
                <a:latin typeface="Arial Black"/>
              </a:rPr>
              <a:t>&lt;номер&gt;</a:t>
            </a:fld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389A73A-5FF2-49E9-9DE5-C9B6F160F0B7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0070c0"/>
                </a:solidFill>
                <a:latin typeface="Impact"/>
              </a:rPr>
              <a:t>Отзывы и рецензия</a:t>
            </a:r>
            <a:endParaRPr b="0" lang="ru-RU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7" name="Прямоугольник 5"/>
          <p:cNvSpPr/>
          <p:nvPr/>
        </p:nvSpPr>
        <p:spPr>
          <a:xfrm>
            <a:off x="376560" y="1562400"/>
            <a:ext cx="3760200" cy="4402800"/>
          </a:xfrm>
          <a:prstGeom prst="rect">
            <a:avLst/>
          </a:prstGeom>
          <a:solidFill>
            <a:schemeClr val="bg1"/>
          </a:solidFill>
          <a:ln>
            <a:solidFill>
              <a:srgbClr val="325490"/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Скан отзыва научного руководителя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Прямоугольник 6"/>
          <p:cNvSpPr/>
          <p:nvPr/>
        </p:nvSpPr>
        <p:spPr>
          <a:xfrm>
            <a:off x="4294440" y="1562400"/>
            <a:ext cx="3760200" cy="4402800"/>
          </a:xfrm>
          <a:prstGeom prst="rect">
            <a:avLst/>
          </a:prstGeom>
          <a:solidFill>
            <a:schemeClr val="bg1"/>
          </a:solidFill>
          <a:ln>
            <a:solidFill>
              <a:srgbClr val="325490"/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Скан отзыва</a:t>
            </a:r>
            <a:br>
              <a:rPr sz="1800"/>
            </a:b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от предприятия-заказчика разработки (при наличии)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Прямоугольник 7"/>
          <p:cNvSpPr/>
          <p:nvPr/>
        </p:nvSpPr>
        <p:spPr>
          <a:xfrm>
            <a:off x="8212680" y="1562400"/>
            <a:ext cx="3760200" cy="4402800"/>
          </a:xfrm>
          <a:prstGeom prst="rect">
            <a:avLst/>
          </a:prstGeom>
          <a:solidFill>
            <a:schemeClr val="bg1"/>
          </a:solidFill>
          <a:ln>
            <a:solidFill>
              <a:srgbClr val="325490"/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u-RU" sz="1800" spc="-1" strike="noStrike">
                <a:solidFill>
                  <a:schemeClr val="dk1"/>
                </a:solidFill>
                <a:latin typeface="Arial Narrow"/>
              </a:rPr>
              <a:t>Скан рецензии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ВКР (б) студентки Якушкиной Марии Константиновной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8BF62E1-0B47-4D62-99F0-9BBCFD66F704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6955</TotalTime>
  <Application>LibreOffice/24.2.7.2$Linux_X86_64 LibreOffice_project/420$Build-2</Application>
  <AppVersion>15.0000</AppVersion>
  <Words>872</Words>
  <Paragraphs>144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2023-03-28T19:07:26Z</dcterms:created>
  <dc:creator>4562</dc:creator>
  <dc:description/>
  <dc:language>ru-RU</dc:language>
  <cp:lastModifiedBy/>
  <dcterms:modified xsi:type="dcterms:W3CDTF">2026-04-13T01:18:37Z</dcterms:modified>
  <cp:revision>40</cp:revision>
  <dc:subject/>
  <dc:title>Выпускная квалификационная работа бакалавра на тему: «Название выпускной  квалификационной работы»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Произвольный</vt:lpwstr>
  </property>
  <property fmtid="{D5CDD505-2E9C-101B-9397-08002B2CF9AE}" pid="3" name="Slides">
    <vt:i4>17</vt:i4>
  </property>
</Properties>
</file>