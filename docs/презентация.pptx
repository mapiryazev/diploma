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1.png" ContentType="image/png"/>
  <Override PartName="/ppt/media/image2.png" ContentType="image/png"/>
  <Override PartName="/ppt/media/image19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4.gif" ContentType="image/gif"/>
  <Override PartName="/ppt/media/image16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80EF48-EB43-4019-9793-E0B4E6FCB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8B90CD-70EE-425A-B709-AFFF48B73A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F7AE4E9-2385-43A4-9635-3F3D5A57AF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CE4084A-2BE6-498B-BDDD-A50FF6E102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46DD34F-A30F-49B3-B7AE-E0EB5E841F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549DE45B-F5AF-4E56-BEB3-AEBB33009E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5ADFE91-6327-47B8-86A7-4EF6EE99EB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C239CAD7-0546-4800-920F-65A38746F7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D1BFDE9-8BD2-4C68-8934-6F1E8E6973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2FE66998-5230-41D1-8456-97983F86FE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2BD2D961-C749-45FE-945A-4C3131B8BA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gif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1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7" descr="Изображение выглядит как текст, знак, на открытом воздухе&#10;&#10;Автоматически созданное описание"/>
          <p:cNvPicPr/>
          <p:nvPr/>
        </p:nvPicPr>
        <p:blipFill>
          <a:blip r:embed="rId4"/>
          <a:stretch/>
        </p:blipFill>
        <p:spPr>
          <a:xfrm>
            <a:off x="40320" y="945360"/>
            <a:ext cx="755280" cy="755280"/>
          </a:xfrm>
          <a:prstGeom prst="rect">
            <a:avLst/>
          </a:prstGeom>
          <a:ln w="0">
            <a:noFill/>
          </a:ln>
        </p:spPr>
      </p:pic>
      <p:pic>
        <p:nvPicPr>
          <p:cNvPr id="3" name="Рисунок 6" descr="Изображение выглядит как на открытом воздухе, небо, облака"/>
          <p:cNvPicPr/>
          <p:nvPr/>
        </p:nvPicPr>
        <p:blipFill>
          <a:blip r:embed="rId5"/>
          <a:stretch/>
        </p:blipFill>
        <p:spPr>
          <a:xfrm>
            <a:off x="0" y="9000"/>
            <a:ext cx="12193920" cy="6857280"/>
          </a:xfrm>
          <a:prstGeom prst="rect">
            <a:avLst/>
          </a:prstGeom>
          <a:ln w="0">
            <a:noFill/>
          </a:ln>
        </p:spPr>
      </p:pic>
      <p:pic>
        <p:nvPicPr>
          <p:cNvPr id="4" name="Picture 14" descr=""/>
          <p:cNvPicPr/>
          <p:nvPr/>
        </p:nvPicPr>
        <p:blipFill>
          <a:blip r:embed="rId6"/>
          <a:stretch/>
        </p:blipFill>
        <p:spPr>
          <a:xfrm>
            <a:off x="271080" y="27360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765A7A-760B-4961-AB6B-D413A40A8F28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13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7FC68D-1796-4CCE-9C7E-81FA0FEFD654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18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D70D69-0081-4CA0-ADE7-27A4372D89AA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23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0"/>
          </p:nvPr>
        </p:nvSpPr>
        <p:spPr>
          <a:xfrm>
            <a:off x="9448920" y="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9AE4C2-60E1-4264-B789-A1624592EAD3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31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3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739EBE-2FC1-4258-A84D-52B3A73B283B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6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14848C-87C5-4E47-9881-EC564D36B0A4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9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44468E-CFB1-4253-AFDC-5155AAB264B1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2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B6A192-F423-43E8-A965-42D3EC3D5CE3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25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076610-DAE2-4A6E-BA75-E2087F774093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28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CA0490-E5C1-4467-B7F3-39AB88085174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Рисунок 8" descr=""/>
          <p:cNvPicPr/>
          <p:nvPr/>
        </p:nvPicPr>
        <p:blipFill>
          <a:blip r:embed="rId2"/>
          <a:stretch/>
        </p:blipFill>
        <p:spPr>
          <a:xfrm>
            <a:off x="0" y="6356520"/>
            <a:ext cx="12191400" cy="51732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14" descr=""/>
          <p:cNvPicPr/>
          <p:nvPr/>
        </p:nvPicPr>
        <p:blipFill>
          <a:blip r:embed="rId3"/>
          <a:stretch/>
        </p:blipFill>
        <p:spPr>
          <a:xfrm>
            <a:off x="40320" y="105120"/>
            <a:ext cx="782280" cy="753840"/>
          </a:xfrm>
          <a:prstGeom prst="rect">
            <a:avLst/>
          </a:prstGeom>
          <a:ln w="0">
            <a:noFill/>
          </a:ln>
        </p:spPr>
      </p:pic>
      <p:pic>
        <p:nvPicPr>
          <p:cNvPr id="70" name="Рисунок 7" descr="Изображение выглядит как текст, знак, на открытом воздухе&#10;&#10;Автоматически созданное описание"/>
          <p:cNvPicPr/>
          <p:nvPr/>
        </p:nvPicPr>
        <p:blipFill>
          <a:blip r:embed="rId4"/>
          <a:stretch/>
        </p:blipFill>
        <p:spPr>
          <a:xfrm>
            <a:off x="40320" y="945360"/>
            <a:ext cx="755280" cy="75528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1"/>
          </p:nvPr>
        </p:nvSpPr>
        <p:spPr>
          <a:xfrm>
            <a:off x="9430920" y="298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65F7F6-2B87-49BE-B78D-C75A78556F1F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620000" y="1321560"/>
            <a:ext cx="9735840" cy="29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203864"/>
                </a:solidFill>
                <a:latin typeface="Arial Narrow"/>
                <a:ea typeface="Noto Sans CJK SC"/>
              </a:rPr>
              <a:t>Выпускная квалификационная работа бакалавра</a:t>
            </a:r>
            <a:br>
              <a:rPr sz="2800"/>
            </a:br>
            <a:r>
              <a:rPr b="0" lang="ru-RU" sz="2800" spc="-1" strike="noStrike">
                <a:solidFill>
                  <a:srgbClr val="203864"/>
                </a:solidFill>
                <a:latin typeface="Arial Narrow"/>
                <a:ea typeface="Noto Sans CJK SC"/>
              </a:rPr>
              <a:t>на тему:</a:t>
            </a:r>
            <a:br>
              <a:rPr sz="2800"/>
            </a:br>
            <a:r>
              <a:rPr b="0" lang="ru-RU" sz="3200" spc="-1" strike="noStrike">
                <a:solidFill>
                  <a:srgbClr val="203864"/>
                </a:solidFill>
                <a:latin typeface="Impact"/>
                <a:ea typeface="Noto Sans CJK SC"/>
              </a:rPr>
              <a:t>«</a:t>
            </a:r>
            <a:r>
              <a:rPr b="0" lang="en-US" sz="2700" spc="-1" strike="noStrike">
                <a:solidFill>
                  <a:srgbClr val="203864"/>
                </a:solidFill>
                <a:latin typeface="Unbounded"/>
                <a:ea typeface="Unbounded"/>
              </a:rPr>
              <a:t>Разработка системы потоковой обработки финансовых транзакций</a:t>
            </a:r>
            <a:r>
              <a:rPr b="0" lang="ru-RU" sz="3200" spc="-1" strike="noStrike">
                <a:solidFill>
                  <a:srgbClr val="203864"/>
                </a:solidFill>
                <a:latin typeface="Impact"/>
                <a:ea typeface="Unbounded"/>
              </a:rPr>
              <a:t>»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350720" y="4875480"/>
            <a:ext cx="10005120" cy="191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 Narrow"/>
              </a:rPr>
              <a:t>Студент группы МО-407Б-22: </a:t>
            </a:r>
            <a:r>
              <a:rPr b="0" lang="ru-RU" sz="2000" spc="-1" strike="noStrike">
                <a:solidFill>
                  <a:schemeClr val="dk1"/>
                </a:solidFill>
                <a:latin typeface="Arial Narrow"/>
              </a:rPr>
              <a:t>Пирязев Михаил Александрович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 Narrow"/>
              </a:rPr>
              <a:t>Научный руководитель: </a:t>
            </a:r>
            <a:r>
              <a:rPr b="0" lang="ru-RU" sz="2000" spc="-1" strike="noStrike">
                <a:solidFill>
                  <a:schemeClr val="dk1"/>
                </a:solidFill>
                <a:latin typeface="Arial Narrow"/>
              </a:rPr>
              <a:t>кандидат физико-математических наук, доцент, доцент 806 кафедры МАИ С.В. Кузнецова</a:t>
            </a:r>
            <a:r>
              <a:rPr b="0" lang="en-US" sz="2000" spc="-1" strike="noStrike">
                <a:solidFill>
                  <a:schemeClr val="dk1"/>
                </a:solidFill>
                <a:latin typeface="Arial Narrow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 Narrow"/>
              </a:rPr>
              <a:t>Москва – 2026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3"/>
          <p:cNvSpPr/>
          <p:nvPr/>
        </p:nvSpPr>
        <p:spPr>
          <a:xfrm>
            <a:off x="1509840" y="217080"/>
            <a:ext cx="976248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lt1"/>
                </a:solidFill>
                <a:latin typeface="Arial Narrow"/>
              </a:rPr>
              <a:t>Московский авиационный институт (национальный исследовательский университет)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2000" spc="-1" strike="noStrike">
                <a:solidFill>
                  <a:schemeClr val="lt1"/>
                </a:solidFill>
                <a:latin typeface="Arial Narrow"/>
              </a:rPr>
              <a:t>Институт № 8 «Компьютерные науки и прикладная математика»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2000" spc="-1" strike="noStrike">
                <a:solidFill>
                  <a:schemeClr val="lt1"/>
                </a:solidFill>
                <a:latin typeface="Arial Narrow"/>
              </a:rPr>
              <a:t>Кафедра № 806 «Вычислительная математика и программирование»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Актуальность темы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Рост безналичных платежей и усложнение их жизненного цикла требуют оперативной и достоверной фиксации операций и прозрачного мониторинга. Традиционные схемы синхронного взаимодействия и пакетной обработки не совершенны (повторы, задержки, неупорядоченность), вызывают ложные инциденты — нужна система, которая надежно записывает и обрабатывает транзакции в кратчайшие сроки.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70c0"/>
                </a:solidFill>
                <a:latin typeface="Arial Narrow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34"/>
          </p:nvPr>
        </p:nvSpPr>
        <p:spPr>
          <a:xfrm>
            <a:off x="0" y="589176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80275FA-3377-4F16-A3D6-B910FFFDC68B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1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Цель и задачи работы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609560"/>
            <a:ext cx="1086156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Black"/>
              </a:rPr>
              <a:t>Цель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 – спроектировать и реализовать систему приёма, хранения и обработки транзакций с возможностью оперативного мониторинга.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Black"/>
              </a:rPr>
              <a:t>Задачи: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Спроектировать систему: модель данных, API для операций и аналитики, хранение и валидация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Реализовать функционал для обработки сообщений в соответствии с требованиями, используя брокер сообщений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Обеспечить наблюдаемость и надёжность при помощи метрик,  дашбордов, DLQ и логов.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5"/>
          </p:nvPr>
        </p:nvSpPr>
        <p:spPr>
          <a:xfrm>
            <a:off x="0" y="585216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69FC412-F7F6-4928-A1C3-1C9D43EE14F4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5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Ограничения задачи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Разработка фокусируется на backend-компоненте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Не рассмотрены вопросы сертификации (PCI DSS) и complience с настоящими 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	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банковскими регуляциями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Тестирование единого элемента системы, без кластеризации и репликации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36"/>
          </p:nvPr>
        </p:nvSpPr>
        <p:spPr>
          <a:xfrm>
            <a:off x="0" y="586800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56747FC-3792-41B6-B958-8F833D0D170A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6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Поряд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ок 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выпол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нения 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работы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Проанализировать рынок, существующие решения, проблемы и теорию.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Сделать заготовку под систему, принципы чистой архитектуры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Реализовать минимальный функционал проекта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Работа с брокером: продьюсер, консьюмер, DLQ и гарантии доставки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Обеспечить возможность наблюдаемости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Провести тестирование системы, написать документацию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37"/>
          </p:nvPr>
        </p:nvSpPr>
        <p:spPr>
          <a:xfrm>
            <a:off x="0" y="582048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7E56D98-D534-4DDE-9EDE-0E14F5829C58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7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Стек технологий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38"/>
          </p:nvPr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2400" spc="-1" strike="noStrike">
                <a:solidFill>
                  <a:srgbClr val="0070c0"/>
                </a:solidFill>
                <a:latin typeface="Arial Blac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7D067272-9068-4F4D-8D2C-758EAADEDFC9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407840" y="1620000"/>
            <a:ext cx="1532160" cy="162000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9180000" y="1432800"/>
            <a:ext cx="1980000" cy="19872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1260000" y="3754440"/>
            <a:ext cx="2880000" cy="128556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4"/>
          <a:stretch/>
        </p:blipFill>
        <p:spPr>
          <a:xfrm>
            <a:off x="5040000" y="3936600"/>
            <a:ext cx="2907360" cy="117612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5"/>
          <a:stretch/>
        </p:blipFill>
        <p:spPr>
          <a:xfrm>
            <a:off x="9180000" y="3839760"/>
            <a:ext cx="2070360" cy="138024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6"/>
          <a:stretch/>
        </p:blipFill>
        <p:spPr>
          <a:xfrm>
            <a:off x="6840000" y="1594800"/>
            <a:ext cx="1716120" cy="16452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7"/>
          <a:stretch/>
        </p:blipFill>
        <p:spPr>
          <a:xfrm>
            <a:off x="1080000" y="1620000"/>
            <a:ext cx="2520000" cy="144000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8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18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Структу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ра 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проекта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, clean 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architec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ture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9"/>
          </p:nvPr>
        </p:nvSpPr>
        <p:spPr>
          <a:xfrm>
            <a:off x="9448920" y="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106" name="Номер слайда 4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0793B9B3-0F12-4CE3-B515-E4AC0CC1AFC3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9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1440000" y="1260000"/>
            <a:ext cx="9360000" cy="509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24760" y="1148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Диаграмма потоков данных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40"/>
          </p:nvPr>
        </p:nvSpPr>
        <p:spPr>
          <a:xfrm>
            <a:off x="9448920" y="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111" name="Номер слайда 3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890A008E-0837-4B24-A546-7C7759E48179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8240" y="1331640"/>
            <a:ext cx="12191400" cy="451692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10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257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Гарант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ии 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достав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ки 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сообщ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ений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Номер слайда 4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A56EFE95-4C4A-4F8C-800A-F6B34105CD6E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338760" y="1440000"/>
            <a:ext cx="5781240" cy="275220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 txBox="1"/>
          <p:nvPr/>
        </p:nvSpPr>
        <p:spPr>
          <a:xfrm>
            <a:off x="360000" y="4399560"/>
            <a:ext cx="935532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События в БД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отражают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исключительно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прошедшие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операции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60000" y="4860000"/>
            <a:ext cx="935532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Прогресс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чтения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подтверждаетс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я явно —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только после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исхода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обработки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сообщения.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60360" y="4860360"/>
            <a:ext cx="935532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Прогресс чтения подтверждается явно — только после исхода обработки сообщения.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60000" y="5492520"/>
            <a:ext cx="935532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Семантика обработки в текущем контуре — at least once.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480000" y="1800000"/>
            <a:ext cx="378000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Ack от лидера партиции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480000" y="2520000"/>
            <a:ext cx="432000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Ключ для стабилизации партиции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480000" y="3240000"/>
            <a:ext cx="522000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Проблема повторной доставки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257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Идемп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отетно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сть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Номер слайда 1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12BB62F5-D996-4185-9476-D5BA9CBA3128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60000" y="4399560"/>
            <a:ext cx="935532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Идемпотентнос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ть — это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способность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сервиса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корректно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обрабатывать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дубликаты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сообщений без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ошибок,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изменения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функционала и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побочных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эффектов для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системы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480000" y="1800000"/>
            <a:ext cx="468000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Журнал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обработанных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сообщений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480000" y="2520000"/>
            <a:ext cx="432000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Уникальный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ключ записи в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журнал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480000" y="3240000"/>
            <a:ext cx="522000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DLQ и replay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540000" y="1620000"/>
            <a:ext cx="5040000" cy="1847160"/>
          </a:xfrm>
          <a:prstGeom prst="rect">
            <a:avLst/>
          </a:prstGeom>
          <a:ln w="0">
            <a:noFill/>
          </a:ln>
        </p:spPr>
      </p:pic>
      <p:sp>
        <p:nvSpPr>
          <p:cNvPr id="131" name=""/>
          <p:cNvSpPr txBox="1"/>
          <p:nvPr/>
        </p:nvSpPr>
        <p:spPr>
          <a:xfrm>
            <a:off x="360000" y="5419800"/>
            <a:ext cx="935532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Цель — не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запретить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повторы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сообщений, а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предусмотреть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их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41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DLQ: 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отдельн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ый 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топик 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для </a:t>
            </a: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сбоев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Номер слайда 2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BBACE457-7410-4B16-B53F-1F7D2DF549EA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480000" y="1567080"/>
            <a:ext cx="5220000" cy="3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Изоляция «опасных» сообщений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480000" y="2664000"/>
            <a:ext cx="4320000" cy="4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Оповещение при росте очереди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480000" y="3240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Не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восстанавлива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емые бизнес-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ошибки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360000" y="937080"/>
            <a:ext cx="5580000" cy="496296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 txBox="1"/>
          <p:nvPr/>
        </p:nvSpPr>
        <p:spPr>
          <a:xfrm>
            <a:off x="6480000" y="3903480"/>
            <a:ext cx="5220000" cy="18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Требуется механизм повторной подачи сообщения в основной топик после устранения причины сбоя, зафиксированной в DLQ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480000" y="2107080"/>
            <a:ext cx="5220000" cy="3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Сохраняется контекст для разбора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41040"/>
            <a:ext cx="1122192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3600" spc="-1" strike="noStrike">
                <a:solidFill>
                  <a:srgbClr val="0070c0"/>
                </a:solidFill>
                <a:latin typeface="Impact"/>
              </a:rPr>
              <a:t>Механизм повторной подачи в основной топик</a:t>
            </a:r>
            <a:br>
              <a:rPr sz="3600"/>
            </a:b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Номер слайда 5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9A5C9965-1F24-45F9-B995-DA107D26EAA8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480000" y="1567080"/>
            <a:ext cx="5220000" cy="3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Отдельный процесс, не косьюмер api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480000" y="2988000"/>
            <a:ext cx="522000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Возможен запуск отдельно, по решению человека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480000" y="2107080"/>
            <a:ext cx="522000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Возможность пакетной обработки сообщений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60360" y="4592160"/>
            <a:ext cx="9355320" cy="66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Механизм читает DLQ, вытаскивает данные транзакции и снова записывает ее в основной топик с нужным ключем, после чего подтвеждает offset.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213120" y="900000"/>
            <a:ext cx="6086880" cy="349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149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70c0"/>
                </a:solidFill>
                <a:latin typeface="Impact"/>
              </a:rPr>
              <a:t> 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Тестир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ование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ldNum" idx="41"/>
          </p:nvPr>
        </p:nvSpPr>
        <p:spPr>
          <a:xfrm>
            <a:off x="9448920" y="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149" name="Номер слайда 4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6936F4EB-69B7-495A-98BA-5445FA36D29C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15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60000" y="243252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Модульное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тестирование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120000" y="2412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Нагрузочное </a:t>
            </a:r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тестирование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175680" y="3398400"/>
            <a:ext cx="5764320" cy="14616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5940000" y="3265920"/>
            <a:ext cx="5428800" cy="231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70c0"/>
                </a:solidFill>
                <a:latin typeface="Impact"/>
              </a:rPr>
              <a:t>QR-</a:t>
            </a: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код репозитория проекта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42"/>
          </p:nvPr>
        </p:nvSpPr>
        <p:spPr>
          <a:xfrm>
            <a:off x="9448920" y="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2400" spc="-1" strike="noStrike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157" name="Номер слайда 4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58BB717D-6EA6-4F38-AE3F-B049FD67F852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Google Shape;149;p20" descr="preencoded.png"/>
          <p:cNvPicPr/>
          <p:nvPr/>
        </p:nvPicPr>
        <p:blipFill>
          <a:blip r:embed="rId1"/>
          <a:stretch/>
        </p:blipFill>
        <p:spPr>
          <a:xfrm>
            <a:off x="1080000" y="1800000"/>
            <a:ext cx="3599640" cy="4049640"/>
          </a:xfrm>
          <a:prstGeom prst="rect">
            <a:avLst/>
          </a:prstGeom>
          <a:ln w="0">
            <a:noFill/>
          </a:ln>
        </p:spPr>
      </p:pic>
      <p:sp>
        <p:nvSpPr>
          <p:cNvPr id="159" name="PlaceHolder 12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864680" y="2075400"/>
            <a:ext cx="683532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400" spc="-1" strike="noStrike">
                <a:solidFill>
                  <a:schemeClr val="dk1"/>
                </a:solidFill>
                <a:latin typeface="Arial Narrow"/>
              </a:rPr>
              <a:t>Ссылка с исходным кодом доступана по QR-коду. Отсканируйте камерой для доступа к хранилищу кода проекта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Заключение 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26920" y="1693800"/>
            <a:ext cx="10526040" cy="448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rial Narrow"/>
              </a:rPr>
              <a:t>Спроектирован и реализован цельный сервис: API над БД и асинхронный контур Kafka.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Для потока событий заданы явный commit offset’ов, дедупликация по идентификатору события, топик отложенных сообщений (DLQ) и утилита повторной публикации после разбора сбоев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Практическая ценность — в связанном применении типовых приемов backend-инженерии, которые часто используются в индустрии.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Номер слайда 4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6642C8BA-96F3-4213-B05E-F8844DD1BFB7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17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85B08E0-146D-422F-88A1-2429575B9CF3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70c0"/>
                </a:solidFill>
                <a:latin typeface="Impact"/>
              </a:rPr>
              <a:t>Источники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26920" y="1693800"/>
            <a:ext cx="10526040" cy="448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Приемы объектно-оориентированного проектирования. –</a:t>
            </a:r>
            <a:r>
              <a:rPr b="0" lang="en-US" sz="2800" spc="-1" strike="noStrike">
                <a:solidFill>
                  <a:schemeClr val="dk1"/>
                </a:solidFill>
                <a:latin typeface="Arial Narrow"/>
              </a:rPr>
              <a:t>URL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: https://stilsoft.ru/download/catalog/pdf/polnoe-opisanie-322323.pdf (дата обращения 13.04.2026)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 Narrow"/>
              </a:rPr>
              <a:t>Таненбаум Э. С., Бос Х. Современные операционные системы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 –</a:t>
            </a:r>
            <a:r>
              <a:rPr b="0" lang="en-US" sz="2800" spc="-1" strike="noStrike">
                <a:solidFill>
                  <a:schemeClr val="dk1"/>
                </a:solidFill>
                <a:latin typeface="Arial Narrow"/>
              </a:rPr>
              <a:t>URL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: </a:t>
            </a:r>
            <a:r>
              <a:rPr b="0" lang="en-US" sz="2800" spc="-1" strike="noStrike" u="sng">
                <a:solidFill>
                  <a:schemeClr val="dk1"/>
                </a:solidFill>
                <a:uFillTx/>
                <a:latin typeface="Arial Narrow"/>
              </a:rPr>
              <a:t>http://lib.ysu.am/disciplines_bk/bc520563d6ed0e7c880969b3e0c9d9cf.pdf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 (дата обращения 12.04.2026).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Кормен Т. Х., Лейзерсон Ч. Э.,  Алгоритмы: построение и анализ  –</a:t>
            </a:r>
            <a:r>
              <a:rPr b="0" lang="en-US" sz="2800" spc="-1" strike="noStrike">
                <a:solidFill>
                  <a:schemeClr val="dk1"/>
                </a:solidFill>
                <a:latin typeface="Arial Narrow"/>
              </a:rPr>
              <a:t>URL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: http://www.r-5.org/files/books/computers/algo-list/common/Cormen_Leiserson_Rivest_Stein-Introduction_to_Algorithms-RU.pdf</a:t>
            </a:r>
            <a:r>
              <a:rPr b="0" lang="ru-RU" sz="2800" spc="-1" strike="noStrike" u="sng">
                <a:solidFill>
                  <a:srgbClr val="0070c0"/>
                </a:solidFill>
                <a:uFillTx/>
                <a:latin typeface="Arial Narrow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Arial Narrow"/>
              </a:rPr>
              <a:t>(дата обращения 12.04.2026).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Номер слайда 4"/>
          <p:cNvSpPr/>
          <p:nvPr/>
        </p:nvSpPr>
        <p:spPr>
          <a:xfrm>
            <a:off x="0" y="5844240"/>
            <a:ext cx="12191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fld id="{50F4F7C5-8D41-4BF6-9EA4-86C88D1C92CB}" type="slidenum">
              <a:rPr b="0" lang="ru-RU" sz="2400" spc="-1" strike="noStrike">
                <a:solidFill>
                  <a:srgbClr val="0070c0"/>
                </a:solidFill>
                <a:latin typeface="Arial Black"/>
              </a:rPr>
              <a:t>3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8"/>
          <p:cNvSpPr txBox="1"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70c0"/>
                </a:solidFill>
                <a:latin typeface="Arial Narrow"/>
              </a:rPr>
              <a:t>ВКР (б) студента Пирязева Михаила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90EB451-42F1-4EDA-9E8F-A3E81FD4A4F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6966</TotalTime>
  <Application>LibreOffice/24.2.7.2$Linux_X86_64 LibreOffice_project/420$Build-2</Application>
  <AppVersion>15.0000</AppVersion>
  <Words>872</Words>
  <Paragraphs>144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2023-03-28T19:07:26Z</dcterms:created>
  <dc:creator>4562</dc:creator>
  <dc:description/>
  <dc:language>ru-RU</dc:language>
  <cp:lastModifiedBy/>
  <dcterms:modified xsi:type="dcterms:W3CDTF">2026-04-14T01:26:04Z</dcterms:modified>
  <cp:revision>42</cp:revision>
  <dc:subject/>
  <dc:title>Выпускная квалификационная работа бакалавра на тему: «Название выпускной  квалификационной работы»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17</vt:i4>
  </property>
</Properties>
</file>